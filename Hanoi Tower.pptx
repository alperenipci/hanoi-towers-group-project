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grandir Bold" charset="1" panose="00000800000000000000"/>
      <p:regular r:id="rId34"/>
    </p:embeddedFont>
    <p:embeddedFont>
      <p:font typeface="Agrandir" charset="1" panose="00000500000000000000"/>
      <p:regular r:id="rId35"/>
    </p:embeddedFont>
    <p:embeddedFont>
      <p:font typeface="Anton" charset="1" panose="00000500000000000000"/>
      <p:regular r:id="rId36"/>
    </p:embeddedFont>
    <p:embeddedFont>
      <p:font typeface="Agrandir Italics" charset="1" panose="00000500000000000000"/>
      <p:regular r:id="rId37"/>
    </p:embeddedFont>
    <p:embeddedFont>
      <p:font typeface="Canva Sans Bold" charset="1" panose="020B0803030501040103"/>
      <p:regular r:id="rId38"/>
    </p:embeddedFont>
    <p:embeddedFont>
      <p:font typeface="Arimo Bold" charset="1" panose="020B0704020202020204"/>
      <p:regular r:id="rId39"/>
    </p:embeddedFont>
    <p:embeddedFont>
      <p:font typeface="Canva Sans" charset="1" panose="020B0503030501040103"/>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https://docs.google.com/document/d/1ZVvUAXCI1hLayiRobIITYgkcM2WwYlI4HOPIuPJjNZc/edit?tab=t.0#heading=h.uh3m0dfe31tm" TargetMode="External" Type="http://schemas.openxmlformats.org/officeDocument/2006/relationships/hyperlink"/><Relationship Id="rId11" Target="https://docs.google.com/document/d/1ZVvUAXCI1hLayiRobIITYgkcM2WwYlI4HOPIuPJjNZc/edit?tab=t.0#heading=h.dkesu4vpllo6" TargetMode="External" Type="http://schemas.openxmlformats.org/officeDocument/2006/relationships/hyperlink"/><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https://docs.google.com/document/d/1ZVvUAXCI1hLayiRobIITYgkcM2WwYlI4HOPIuPJjNZc/edit?tab=t.0#heading=h.xz7h5cps3rfu" TargetMode="External" Type="http://schemas.openxmlformats.org/officeDocument/2006/relationships/hyperlink"/><Relationship Id="rId9" Target="https://docs.google.com/document/d/1ZVvUAXCI1hLayiRobIITYgkcM2WwYlI4HOPIuPJjNZc/edit?tab=t.0#heading=h.nretj5w5n8mr"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496487" y="0"/>
            <a:ext cx="3295027" cy="3416882"/>
          </a:xfrm>
          <a:custGeom>
            <a:avLst/>
            <a:gdLst/>
            <a:ahLst/>
            <a:cxnLst/>
            <a:rect r="r" b="b" t="t" l="l"/>
            <a:pathLst>
              <a:path h="3416882" w="3295027">
                <a:moveTo>
                  <a:pt x="0" y="0"/>
                </a:moveTo>
                <a:lnTo>
                  <a:pt x="3295026" y="0"/>
                </a:lnTo>
                <a:lnTo>
                  <a:pt x="3295026" y="3416882"/>
                </a:lnTo>
                <a:lnTo>
                  <a:pt x="0" y="3416882"/>
                </a:lnTo>
                <a:lnTo>
                  <a:pt x="0" y="0"/>
                </a:lnTo>
                <a:close/>
              </a:path>
            </a:pathLst>
          </a:custGeom>
          <a:blipFill>
            <a:blip r:embed="rId3"/>
            <a:stretch>
              <a:fillRect l="0" t="-52752" r="-109686" b="-49455"/>
            </a:stretch>
          </a:blipFill>
        </p:spPr>
      </p:sp>
      <p:sp>
        <p:nvSpPr>
          <p:cNvPr name="TextBox 4" id="4"/>
          <p:cNvSpPr txBox="true"/>
          <p:nvPr/>
        </p:nvSpPr>
        <p:spPr>
          <a:xfrm rot="0">
            <a:off x="77001" y="3094303"/>
            <a:ext cx="18133998" cy="1133475"/>
          </a:xfrm>
          <a:prstGeom prst="rect">
            <a:avLst/>
          </a:prstGeom>
        </p:spPr>
        <p:txBody>
          <a:bodyPr anchor="t" rtlCol="false" tIns="0" lIns="0" bIns="0" rIns="0">
            <a:spAutoFit/>
          </a:bodyPr>
          <a:lstStyle/>
          <a:p>
            <a:pPr algn="ctr">
              <a:lnSpc>
                <a:spcPts val="4200"/>
              </a:lnSpc>
            </a:pPr>
            <a:r>
              <a:rPr lang="en-US" sz="3000" b="true">
                <a:solidFill>
                  <a:srgbClr val="12356D"/>
                </a:solidFill>
                <a:latin typeface="Agrandir Bold"/>
                <a:ea typeface="Agrandir Bold"/>
                <a:cs typeface="Agrandir Bold"/>
                <a:sym typeface="Agrandir Bold"/>
              </a:rPr>
              <a:t>YILDIZ TECHNICAL UNIVERSITY</a:t>
            </a:r>
          </a:p>
          <a:p>
            <a:pPr algn="ctr">
              <a:lnSpc>
                <a:spcPts val="4200"/>
              </a:lnSpc>
              <a:spcBef>
                <a:spcPct val="0"/>
              </a:spcBef>
            </a:pPr>
            <a:r>
              <a:rPr lang="en-US" b="true" sz="3000">
                <a:solidFill>
                  <a:srgbClr val="12356D"/>
                </a:solidFill>
                <a:latin typeface="Agrandir Bold"/>
                <a:ea typeface="Agrandir Bold"/>
                <a:cs typeface="Agrandir Bold"/>
                <a:sym typeface="Agrandir Bold"/>
              </a:rPr>
              <a:t>MATHEMATICAL ENGINEERING DEPARTMENT</a:t>
            </a:r>
          </a:p>
        </p:txBody>
      </p:sp>
      <p:sp>
        <p:nvSpPr>
          <p:cNvPr name="TextBox 5" id="5"/>
          <p:cNvSpPr txBox="true"/>
          <p:nvPr/>
        </p:nvSpPr>
        <p:spPr>
          <a:xfrm rot="0">
            <a:off x="154002" y="4389080"/>
            <a:ext cx="18133998" cy="5934075"/>
          </a:xfrm>
          <a:prstGeom prst="rect">
            <a:avLst/>
          </a:prstGeom>
        </p:spPr>
        <p:txBody>
          <a:bodyPr anchor="t" rtlCol="false" tIns="0" lIns="0" bIns="0" rIns="0">
            <a:spAutoFit/>
          </a:bodyPr>
          <a:lstStyle/>
          <a:p>
            <a:pPr algn="ctr">
              <a:lnSpc>
                <a:spcPts val="4200"/>
              </a:lnSpc>
            </a:pPr>
            <a:r>
              <a:rPr lang="en-US" sz="3000">
                <a:solidFill>
                  <a:srgbClr val="12356D"/>
                </a:solidFill>
                <a:latin typeface="Agrandir"/>
                <a:ea typeface="Agrandir"/>
                <a:cs typeface="Agrandir"/>
                <a:sym typeface="Agrandir"/>
              </a:rPr>
              <a:t>PROJECT FOR THE INTRODUCTION TO ARTIFICIAL</a:t>
            </a:r>
          </a:p>
          <a:p>
            <a:pPr algn="ctr">
              <a:lnSpc>
                <a:spcPts val="4200"/>
              </a:lnSpc>
            </a:pPr>
            <a:r>
              <a:rPr lang="en-US" sz="3000">
                <a:solidFill>
                  <a:srgbClr val="12356D"/>
                </a:solidFill>
                <a:latin typeface="Agrandir"/>
                <a:ea typeface="Agrandir"/>
                <a:cs typeface="Agrandir"/>
                <a:sym typeface="Agrandir"/>
              </a:rPr>
              <a:t>INTELLIGENCE (2026 SPRING)</a:t>
            </a:r>
          </a:p>
          <a:p>
            <a:pPr algn="ctr">
              <a:lnSpc>
                <a:spcPts val="4200"/>
              </a:lnSpc>
            </a:pPr>
            <a:r>
              <a:rPr lang="en-US" sz="3000">
                <a:solidFill>
                  <a:srgbClr val="12356D"/>
                </a:solidFill>
                <a:latin typeface="Agrandir"/>
                <a:ea typeface="Agrandir"/>
                <a:cs typeface="Agrandir"/>
                <a:sym typeface="Agrandir"/>
              </a:rPr>
              <a:t>HANOI TOWER</a:t>
            </a:r>
          </a:p>
          <a:p>
            <a:pPr algn="ctr">
              <a:lnSpc>
                <a:spcPts val="4200"/>
              </a:lnSpc>
            </a:pPr>
            <a:r>
              <a:rPr lang="en-US" sz="3000">
                <a:solidFill>
                  <a:srgbClr val="12356D"/>
                </a:solidFill>
                <a:latin typeface="Agrandir"/>
                <a:ea typeface="Agrandir"/>
                <a:cs typeface="Agrandir"/>
                <a:sym typeface="Agrandir"/>
              </a:rPr>
              <a:t>SOLUTIONS WITH AI SEARCH ALGORITHMS</a:t>
            </a:r>
          </a:p>
          <a:p>
            <a:pPr algn="ctr">
              <a:lnSpc>
                <a:spcPts val="4200"/>
              </a:lnSpc>
            </a:pPr>
          </a:p>
          <a:p>
            <a:pPr algn="ctr">
              <a:lnSpc>
                <a:spcPts val="4200"/>
              </a:lnSpc>
            </a:pPr>
            <a:r>
              <a:rPr lang="en-US" sz="3000">
                <a:solidFill>
                  <a:srgbClr val="12356D"/>
                </a:solidFill>
                <a:latin typeface="Agrandir"/>
                <a:ea typeface="Agrandir"/>
                <a:cs typeface="Agrandir"/>
                <a:sym typeface="Agrandir"/>
              </a:rPr>
              <a:t>Alperen İlhan İpçi</a:t>
            </a:r>
          </a:p>
          <a:p>
            <a:pPr algn="ctr">
              <a:lnSpc>
                <a:spcPts val="4200"/>
              </a:lnSpc>
            </a:pPr>
            <a:r>
              <a:rPr lang="en-US" sz="3000">
                <a:solidFill>
                  <a:srgbClr val="12356D"/>
                </a:solidFill>
                <a:latin typeface="Agrandir"/>
                <a:ea typeface="Agrandir"/>
                <a:cs typeface="Agrandir"/>
                <a:sym typeface="Agrandir"/>
              </a:rPr>
              <a:t>Bensu Kocatepe</a:t>
            </a:r>
          </a:p>
          <a:p>
            <a:pPr algn="ctr">
              <a:lnSpc>
                <a:spcPts val="4200"/>
              </a:lnSpc>
            </a:pPr>
            <a:r>
              <a:rPr lang="en-US" sz="3000">
                <a:solidFill>
                  <a:srgbClr val="12356D"/>
                </a:solidFill>
                <a:latin typeface="Agrandir"/>
                <a:ea typeface="Agrandir"/>
                <a:cs typeface="Agrandir"/>
                <a:sym typeface="Agrandir"/>
              </a:rPr>
              <a:t>Ezgi Nur Eren</a:t>
            </a:r>
          </a:p>
          <a:p>
            <a:pPr algn="ctr">
              <a:lnSpc>
                <a:spcPts val="4200"/>
              </a:lnSpc>
            </a:pPr>
            <a:r>
              <a:rPr lang="en-US" sz="3000">
                <a:solidFill>
                  <a:srgbClr val="12356D"/>
                </a:solidFill>
                <a:latin typeface="Agrandir"/>
                <a:ea typeface="Agrandir"/>
                <a:cs typeface="Agrandir"/>
                <a:sym typeface="Agrandir"/>
              </a:rPr>
              <a:t>Gökhan Keskin</a:t>
            </a:r>
          </a:p>
          <a:p>
            <a:pPr algn="ctr">
              <a:lnSpc>
                <a:spcPts val="4200"/>
              </a:lnSpc>
            </a:pPr>
            <a:r>
              <a:rPr lang="en-US" sz="3000">
                <a:solidFill>
                  <a:srgbClr val="12356D"/>
                </a:solidFill>
                <a:latin typeface="Agrandir"/>
                <a:ea typeface="Agrandir"/>
                <a:cs typeface="Agrandir"/>
                <a:sym typeface="Agrandir"/>
              </a:rPr>
              <a:t>Hamide Okumuş</a:t>
            </a:r>
          </a:p>
          <a:p>
            <a:pPr algn="ctr">
              <a:lnSpc>
                <a:spcPts val="4200"/>
              </a:lnSpc>
              <a:spcBef>
                <a:spcPct val="0"/>
              </a:spcBef>
            </a:pPr>
            <a:r>
              <a:rPr lang="en-US" sz="3000">
                <a:solidFill>
                  <a:srgbClr val="12356D"/>
                </a:solidFill>
                <a:latin typeface="Agrandir"/>
                <a:ea typeface="Agrandir"/>
                <a:cs typeface="Agrandir"/>
                <a:sym typeface="Agrandir"/>
              </a:rPr>
              <a:t>Selma Cemal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006663" y="-5493771"/>
            <a:ext cx="7955520" cy="79555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20882" y="3044958"/>
            <a:ext cx="2864042" cy="28640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451675" y="3044958"/>
            <a:ext cx="2864042" cy="286404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20882" y="6489463"/>
            <a:ext cx="549773" cy="552788"/>
          </a:xfrm>
          <a:custGeom>
            <a:avLst/>
            <a:gdLst/>
            <a:ahLst/>
            <a:cxnLst/>
            <a:rect r="r" b="b" t="t" l="l"/>
            <a:pathLst>
              <a:path h="552788" w="549773">
                <a:moveTo>
                  <a:pt x="0" y="0"/>
                </a:moveTo>
                <a:lnTo>
                  <a:pt x="549772" y="0"/>
                </a:lnTo>
                <a:lnTo>
                  <a:pt x="549772" y="552787"/>
                </a:lnTo>
                <a:lnTo>
                  <a:pt x="0" y="55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5451675" y="6489463"/>
            <a:ext cx="549773" cy="552788"/>
          </a:xfrm>
          <a:custGeom>
            <a:avLst/>
            <a:gdLst/>
            <a:ahLst/>
            <a:cxnLst/>
            <a:rect r="r" b="b" t="t" l="l"/>
            <a:pathLst>
              <a:path h="552788" w="549773">
                <a:moveTo>
                  <a:pt x="0" y="0"/>
                </a:moveTo>
                <a:lnTo>
                  <a:pt x="549772" y="0"/>
                </a:lnTo>
                <a:lnTo>
                  <a:pt x="549772" y="552787"/>
                </a:lnTo>
                <a:lnTo>
                  <a:pt x="0" y="55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9591675" y="3044958"/>
            <a:ext cx="2864042" cy="286404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9591675" y="6489463"/>
            <a:ext cx="549773" cy="552788"/>
          </a:xfrm>
          <a:custGeom>
            <a:avLst/>
            <a:gdLst/>
            <a:ahLst/>
            <a:cxnLst/>
            <a:rect r="r" b="b" t="t" l="l"/>
            <a:pathLst>
              <a:path h="552788" w="549773">
                <a:moveTo>
                  <a:pt x="0" y="0"/>
                </a:moveTo>
                <a:lnTo>
                  <a:pt x="549773" y="0"/>
                </a:lnTo>
                <a:lnTo>
                  <a:pt x="549773" y="552787"/>
                </a:lnTo>
                <a:lnTo>
                  <a:pt x="0" y="55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3844206" y="3044958"/>
            <a:ext cx="2864042" cy="286404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3913144" y="6489463"/>
            <a:ext cx="549773" cy="552788"/>
          </a:xfrm>
          <a:custGeom>
            <a:avLst/>
            <a:gdLst/>
            <a:ahLst/>
            <a:cxnLst/>
            <a:rect r="r" b="b" t="t" l="l"/>
            <a:pathLst>
              <a:path h="552788" w="549773">
                <a:moveTo>
                  <a:pt x="0" y="0"/>
                </a:moveTo>
                <a:lnTo>
                  <a:pt x="549773" y="0"/>
                </a:lnTo>
                <a:lnTo>
                  <a:pt x="549773" y="552787"/>
                </a:lnTo>
                <a:lnTo>
                  <a:pt x="0" y="55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2534542" y="3317549"/>
            <a:ext cx="636720" cy="2318860"/>
          </a:xfrm>
          <a:custGeom>
            <a:avLst/>
            <a:gdLst/>
            <a:ahLst/>
            <a:cxnLst/>
            <a:rect r="r" b="b" t="t" l="l"/>
            <a:pathLst>
              <a:path h="2318860" w="636720">
                <a:moveTo>
                  <a:pt x="0" y="0"/>
                </a:moveTo>
                <a:lnTo>
                  <a:pt x="636721" y="0"/>
                </a:lnTo>
                <a:lnTo>
                  <a:pt x="636721" y="2318860"/>
                </a:lnTo>
                <a:lnTo>
                  <a:pt x="0" y="2318860"/>
                </a:lnTo>
                <a:lnTo>
                  <a:pt x="0" y="0"/>
                </a:lnTo>
                <a:close/>
              </a:path>
            </a:pathLst>
          </a:custGeom>
          <a:blipFill>
            <a:blip r:embed="rId4"/>
            <a:stretch>
              <a:fillRect l="0" t="0" r="0" b="0"/>
            </a:stretch>
          </a:blipFill>
        </p:spPr>
      </p:sp>
      <p:sp>
        <p:nvSpPr>
          <p:cNvPr name="Freeform 22" id="22"/>
          <p:cNvSpPr/>
          <p:nvPr/>
        </p:nvSpPr>
        <p:spPr>
          <a:xfrm flipH="false" flipV="false" rot="0">
            <a:off x="10242573" y="3457797"/>
            <a:ext cx="1562246" cy="2178612"/>
          </a:xfrm>
          <a:custGeom>
            <a:avLst/>
            <a:gdLst/>
            <a:ahLst/>
            <a:cxnLst/>
            <a:rect r="r" b="b" t="t" l="l"/>
            <a:pathLst>
              <a:path h="2178612" w="1562246">
                <a:moveTo>
                  <a:pt x="0" y="0"/>
                </a:moveTo>
                <a:lnTo>
                  <a:pt x="1562246" y="0"/>
                </a:lnTo>
                <a:lnTo>
                  <a:pt x="1562246" y="2178612"/>
                </a:lnTo>
                <a:lnTo>
                  <a:pt x="0" y="2178612"/>
                </a:lnTo>
                <a:lnTo>
                  <a:pt x="0" y="0"/>
                </a:lnTo>
                <a:close/>
              </a:path>
            </a:pathLst>
          </a:custGeom>
          <a:blipFill>
            <a:blip r:embed="rId5"/>
            <a:stretch>
              <a:fillRect l="0" t="0" r="0" b="0"/>
            </a:stretch>
          </a:blipFill>
        </p:spPr>
      </p:sp>
      <p:sp>
        <p:nvSpPr>
          <p:cNvPr name="Freeform 23" id="23"/>
          <p:cNvSpPr/>
          <p:nvPr/>
        </p:nvSpPr>
        <p:spPr>
          <a:xfrm flipH="false" flipV="false" rot="0">
            <a:off x="14379767" y="3387673"/>
            <a:ext cx="1713841" cy="2178612"/>
          </a:xfrm>
          <a:custGeom>
            <a:avLst/>
            <a:gdLst/>
            <a:ahLst/>
            <a:cxnLst/>
            <a:rect r="r" b="b" t="t" l="l"/>
            <a:pathLst>
              <a:path h="2178612" w="1713841">
                <a:moveTo>
                  <a:pt x="0" y="0"/>
                </a:moveTo>
                <a:lnTo>
                  <a:pt x="1713841" y="0"/>
                </a:lnTo>
                <a:lnTo>
                  <a:pt x="1713841" y="2178612"/>
                </a:lnTo>
                <a:lnTo>
                  <a:pt x="0" y="2178612"/>
                </a:lnTo>
                <a:lnTo>
                  <a:pt x="0" y="0"/>
                </a:lnTo>
                <a:close/>
              </a:path>
            </a:pathLst>
          </a:custGeom>
          <a:blipFill>
            <a:blip r:embed="rId6"/>
            <a:stretch>
              <a:fillRect l="0" t="0" r="0" b="0"/>
            </a:stretch>
          </a:blipFill>
        </p:spPr>
      </p:sp>
      <p:sp>
        <p:nvSpPr>
          <p:cNvPr name="Freeform 24" id="24"/>
          <p:cNvSpPr/>
          <p:nvPr/>
        </p:nvSpPr>
        <p:spPr>
          <a:xfrm flipH="false" flipV="false" rot="0">
            <a:off x="6103018" y="3352897"/>
            <a:ext cx="1561355" cy="2213388"/>
          </a:xfrm>
          <a:custGeom>
            <a:avLst/>
            <a:gdLst/>
            <a:ahLst/>
            <a:cxnLst/>
            <a:rect r="r" b="b" t="t" l="l"/>
            <a:pathLst>
              <a:path h="2213388" w="1561355">
                <a:moveTo>
                  <a:pt x="0" y="0"/>
                </a:moveTo>
                <a:lnTo>
                  <a:pt x="1561355" y="0"/>
                </a:lnTo>
                <a:lnTo>
                  <a:pt x="1561355" y="2213388"/>
                </a:lnTo>
                <a:lnTo>
                  <a:pt x="0" y="2213388"/>
                </a:lnTo>
                <a:lnTo>
                  <a:pt x="0" y="0"/>
                </a:lnTo>
                <a:close/>
              </a:path>
            </a:pathLst>
          </a:custGeom>
          <a:blipFill>
            <a:blip r:embed="rId7"/>
            <a:stretch>
              <a:fillRect l="0" t="0" r="0" b="0"/>
            </a:stretch>
          </a:blipFill>
        </p:spPr>
      </p:sp>
      <p:sp>
        <p:nvSpPr>
          <p:cNvPr name="TextBox 25" id="25"/>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26" id="26"/>
          <p:cNvSpPr txBox="true"/>
          <p:nvPr/>
        </p:nvSpPr>
        <p:spPr>
          <a:xfrm rot="0">
            <a:off x="5833105" y="603403"/>
            <a:ext cx="6752373" cy="860103"/>
          </a:xfrm>
          <a:prstGeom prst="rect">
            <a:avLst/>
          </a:prstGeom>
        </p:spPr>
        <p:txBody>
          <a:bodyPr anchor="t" rtlCol="false" tIns="0" lIns="0" bIns="0" rIns="0">
            <a:spAutoFit/>
          </a:bodyPr>
          <a:lstStyle/>
          <a:p>
            <a:pPr algn="ctr">
              <a:lnSpc>
                <a:spcPts val="6726"/>
              </a:lnSpc>
            </a:pPr>
            <a:r>
              <a:rPr lang="en-US" sz="5748">
                <a:solidFill>
                  <a:srgbClr val="CDE8F9"/>
                </a:solidFill>
                <a:latin typeface="Anton"/>
                <a:ea typeface="Anton"/>
                <a:cs typeface="Anton"/>
                <a:sym typeface="Anton"/>
              </a:rPr>
              <a:t>CO</a:t>
            </a:r>
            <a:r>
              <a:rPr lang="en-US" sz="5748">
                <a:solidFill>
                  <a:srgbClr val="CDE8F9"/>
                </a:solidFill>
                <a:latin typeface="Anton"/>
                <a:ea typeface="Anton"/>
                <a:cs typeface="Anton"/>
                <a:sym typeface="Anton"/>
              </a:rPr>
              <a:t>NTENTS</a:t>
            </a:r>
          </a:p>
        </p:txBody>
      </p:sp>
      <p:sp>
        <p:nvSpPr>
          <p:cNvPr name="TextBox 27" id="27"/>
          <p:cNvSpPr txBox="true"/>
          <p:nvPr/>
        </p:nvSpPr>
        <p:spPr>
          <a:xfrm rot="0">
            <a:off x="2206926" y="6519794"/>
            <a:ext cx="2402358" cy="3968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Agrandir Bold"/>
                <a:ea typeface="Agrandir Bold"/>
                <a:cs typeface="Agrandir Bold"/>
                <a:sym typeface="Agrandir Bold"/>
                <a:hlinkClick r:id="rId8" tooltip="https://docs.google.com/document/d/1ZVvUAXCI1hLayiRobIITYgkcM2WwYlI4HOPIuPJjNZc/edit?tab=t.0#heading=h.xz7h5cps3rfu"/>
              </a:rPr>
              <a:t>INTRODUCTION</a:t>
            </a:r>
          </a:p>
        </p:txBody>
      </p:sp>
      <p:sp>
        <p:nvSpPr>
          <p:cNvPr name="TextBox 28" id="28"/>
          <p:cNvSpPr txBox="true"/>
          <p:nvPr/>
        </p:nvSpPr>
        <p:spPr>
          <a:xfrm rot="0">
            <a:off x="6103018" y="6573769"/>
            <a:ext cx="2865028" cy="396875"/>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Agrandir Bold"/>
                <a:ea typeface="Agrandir Bold"/>
                <a:cs typeface="Agrandir Bold"/>
                <a:sym typeface="Agrandir Bold"/>
                <a:hlinkClick r:id="rId9" tooltip="https://docs.google.com/document/d/1ZVvUAXCI1hLayiRobIITYgkcM2WwYlI4HOPIuPJjNZc/edit?tab=t.0#heading=h.nretj5w5n8mr"/>
              </a:rPr>
              <a:t>PROBLEM DEFINITION</a:t>
            </a:r>
          </a:p>
        </p:txBody>
      </p:sp>
      <p:sp>
        <p:nvSpPr>
          <p:cNvPr name="TextBox 29" id="29"/>
          <p:cNvSpPr txBox="true"/>
          <p:nvPr/>
        </p:nvSpPr>
        <p:spPr>
          <a:xfrm rot="0">
            <a:off x="10311129" y="6397556"/>
            <a:ext cx="2992415" cy="749300"/>
          </a:xfrm>
          <a:prstGeom prst="rect">
            <a:avLst/>
          </a:prstGeom>
        </p:spPr>
        <p:txBody>
          <a:bodyPr anchor="t" rtlCol="false" tIns="0" lIns="0" bIns="0" rIns="0">
            <a:spAutoFit/>
          </a:bodyPr>
          <a:lstStyle/>
          <a:p>
            <a:pPr algn="l">
              <a:lnSpc>
                <a:spcPts val="2799"/>
              </a:lnSpc>
              <a:spcBef>
                <a:spcPct val="0"/>
              </a:spcBef>
            </a:pPr>
            <a:r>
              <a:rPr lang="en-US" b="true" sz="1999">
                <a:solidFill>
                  <a:srgbClr val="FFFFFF"/>
                </a:solidFill>
                <a:latin typeface="Agrandir Bold"/>
                <a:ea typeface="Agrandir Bold"/>
                <a:cs typeface="Agrandir Bold"/>
                <a:sym typeface="Agrandir Bold"/>
                <a:hlinkClick r:id="rId10" tooltip="https://docs.google.com/document/d/1ZVvUAXCI1hLayiRobIITYgkcM2WwYlI4HOPIuPJjNZc/edit?tab=t.0#heading=h.uh3m0dfe31tm"/>
              </a:rPr>
              <a:t>HEURISTIC AND ALGORITHM DESIGN </a:t>
            </a:r>
          </a:p>
        </p:txBody>
      </p:sp>
      <p:sp>
        <p:nvSpPr>
          <p:cNvPr name="TextBox 30" id="30"/>
          <p:cNvSpPr txBox="true"/>
          <p:nvPr/>
        </p:nvSpPr>
        <p:spPr>
          <a:xfrm rot="0">
            <a:off x="14462917" y="6397556"/>
            <a:ext cx="3710783" cy="749300"/>
          </a:xfrm>
          <a:prstGeom prst="rect">
            <a:avLst/>
          </a:prstGeom>
        </p:spPr>
        <p:txBody>
          <a:bodyPr anchor="t" rtlCol="false" tIns="0" lIns="0" bIns="0" rIns="0">
            <a:spAutoFit/>
          </a:bodyPr>
          <a:lstStyle/>
          <a:p>
            <a:pPr algn="ctr">
              <a:lnSpc>
                <a:spcPts val="2799"/>
              </a:lnSpc>
              <a:spcBef>
                <a:spcPct val="0"/>
              </a:spcBef>
            </a:pPr>
            <a:r>
              <a:rPr lang="en-US" b="true" sz="1999">
                <a:solidFill>
                  <a:srgbClr val="FFFFFF"/>
                </a:solidFill>
                <a:latin typeface="Agrandir Bold"/>
                <a:ea typeface="Agrandir Bold"/>
                <a:cs typeface="Agrandir Bold"/>
                <a:sym typeface="Agrandir Bold"/>
                <a:hlinkClick r:id="rId11" tooltip="https://docs.google.com/document/d/1ZVvUAXCI1hLayiRobIITYgkcM2WwYlI4HOPIuPJjNZc/edit?tab=t.0#heading=h.dkesu4vpllo6"/>
              </a:rPr>
              <a:t>SIMULATION RESULTS AND PERFORMANCE ANALYSIS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786627" y="5143500"/>
            <a:ext cx="549773" cy="552788"/>
          </a:xfrm>
          <a:custGeom>
            <a:avLst/>
            <a:gdLst/>
            <a:ahLst/>
            <a:cxnLst/>
            <a:rect r="r" b="b" t="t" l="l"/>
            <a:pathLst>
              <a:path h="552788" w="549773">
                <a:moveTo>
                  <a:pt x="0" y="0"/>
                </a:moveTo>
                <a:lnTo>
                  <a:pt x="549772" y="0"/>
                </a:lnTo>
                <a:lnTo>
                  <a:pt x="549772" y="552788"/>
                </a:lnTo>
                <a:lnTo>
                  <a:pt x="0" y="552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98209" y="307752"/>
            <a:ext cx="2655089" cy="2542247"/>
          </a:xfrm>
          <a:custGeom>
            <a:avLst/>
            <a:gdLst/>
            <a:ahLst/>
            <a:cxnLst/>
            <a:rect r="r" b="b" t="t" l="l"/>
            <a:pathLst>
              <a:path h="2542247" w="2655089">
                <a:moveTo>
                  <a:pt x="0" y="0"/>
                </a:moveTo>
                <a:lnTo>
                  <a:pt x="2655089" y="0"/>
                </a:lnTo>
                <a:lnTo>
                  <a:pt x="2655089" y="2542247"/>
                </a:lnTo>
                <a:lnTo>
                  <a:pt x="0" y="25422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767813" y="2660165"/>
            <a:ext cx="6752373" cy="2074545"/>
          </a:xfrm>
          <a:prstGeom prst="rect">
            <a:avLst/>
          </a:prstGeom>
        </p:spPr>
        <p:txBody>
          <a:bodyPr anchor="t" rtlCol="false" tIns="0" lIns="0" bIns="0" rIns="0">
            <a:spAutoFit/>
          </a:bodyPr>
          <a:lstStyle/>
          <a:p>
            <a:pPr algn="ctr">
              <a:lnSpc>
                <a:spcPts val="8189"/>
              </a:lnSpc>
            </a:pPr>
            <a:r>
              <a:rPr lang="en-US" sz="6999">
                <a:solidFill>
                  <a:srgbClr val="12356D"/>
                </a:solidFill>
                <a:latin typeface="Anton"/>
                <a:ea typeface="Anton"/>
                <a:cs typeface="Anton"/>
                <a:sym typeface="Anton"/>
              </a:rPr>
              <a:t>1-INTRODUCTION</a:t>
            </a:r>
          </a:p>
          <a:p>
            <a:pPr algn="ctr">
              <a:lnSpc>
                <a:spcPts val="8189"/>
              </a:lnSpc>
            </a:pPr>
          </a:p>
        </p:txBody>
      </p:sp>
      <p:sp>
        <p:nvSpPr>
          <p:cNvPr name="TextBox 9" id="9"/>
          <p:cNvSpPr txBox="true"/>
          <p:nvPr/>
        </p:nvSpPr>
        <p:spPr>
          <a:xfrm rot="0">
            <a:off x="2336399" y="4953000"/>
            <a:ext cx="14459186" cy="4318000"/>
          </a:xfrm>
          <a:prstGeom prst="rect">
            <a:avLst/>
          </a:prstGeom>
        </p:spPr>
        <p:txBody>
          <a:bodyPr anchor="t" rtlCol="false" tIns="0" lIns="0" bIns="0" rIns="0">
            <a:spAutoFit/>
          </a:bodyPr>
          <a:lstStyle/>
          <a:p>
            <a:pPr algn="just">
              <a:lnSpc>
                <a:spcPts val="5599"/>
              </a:lnSpc>
            </a:pPr>
            <a:r>
              <a:rPr lang="en-US" sz="3999">
                <a:solidFill>
                  <a:srgbClr val="12356D"/>
                </a:solidFill>
                <a:latin typeface="Agrandir"/>
                <a:ea typeface="Agrandir"/>
                <a:cs typeface="Agrandir"/>
                <a:sym typeface="Agrandir"/>
              </a:rPr>
              <a:t>The T</a:t>
            </a:r>
            <a:r>
              <a:rPr lang="en-US" sz="3999">
                <a:solidFill>
                  <a:srgbClr val="12356D"/>
                </a:solidFill>
                <a:latin typeface="Agrandir"/>
                <a:ea typeface="Agrandir"/>
                <a:cs typeface="Agrandir"/>
                <a:sym typeface="Agrandir"/>
              </a:rPr>
              <a:t>ower of Hanoi is a puzzle invented by French mathematician Édouard Lucas in 1883. The setup of the game is quite simple: there are 3 pegs standing side by side, and initially, a number of N disks are stacked on one of these pegs from largest to smallest (forming a conical shape).</a:t>
            </a:r>
          </a:p>
          <a:p>
            <a:pPr algn="just">
              <a:lnSpc>
                <a:spcPts val="5599"/>
              </a:lnSpc>
              <a:spcBef>
                <a:spcPct val="0"/>
              </a:spcBef>
            </a:pPr>
          </a:p>
        </p:txBody>
      </p:sp>
      <p:sp>
        <p:nvSpPr>
          <p:cNvPr name="TextBox 10" id="10"/>
          <p:cNvSpPr txBox="true"/>
          <p:nvPr/>
        </p:nvSpPr>
        <p:spPr>
          <a:xfrm rot="0">
            <a:off x="1786627" y="4013643"/>
            <a:ext cx="5749093" cy="793750"/>
          </a:xfrm>
          <a:prstGeom prst="rect">
            <a:avLst/>
          </a:prstGeom>
        </p:spPr>
        <p:txBody>
          <a:bodyPr anchor="t" rtlCol="false" tIns="0" lIns="0" bIns="0" rIns="0">
            <a:spAutoFit/>
          </a:bodyPr>
          <a:lstStyle/>
          <a:p>
            <a:pPr algn="just">
              <a:lnSpc>
                <a:spcPts val="5599"/>
              </a:lnSpc>
              <a:spcBef>
                <a:spcPct val="0"/>
              </a:spcBef>
            </a:pPr>
            <a:r>
              <a:rPr lang="en-US" b="true" sz="3999">
                <a:solidFill>
                  <a:srgbClr val="12356D"/>
                </a:solidFill>
                <a:latin typeface="Agrandir Bold"/>
                <a:ea typeface="Agrandir Bold"/>
                <a:cs typeface="Agrandir Bold"/>
                <a:sym typeface="Agrandir Bold"/>
              </a:rPr>
              <a:t>What is Hanoi Tower?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207978" y="1346827"/>
            <a:ext cx="8401213" cy="840121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006663" y="-5776709"/>
            <a:ext cx="7955520" cy="795552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594642" y="5998336"/>
            <a:ext cx="549773" cy="552788"/>
          </a:xfrm>
          <a:custGeom>
            <a:avLst/>
            <a:gdLst/>
            <a:ahLst/>
            <a:cxnLst/>
            <a:rect r="r" b="b" t="t" l="l"/>
            <a:pathLst>
              <a:path h="552788" w="549773">
                <a:moveTo>
                  <a:pt x="0" y="0"/>
                </a:moveTo>
                <a:lnTo>
                  <a:pt x="549773" y="0"/>
                </a:lnTo>
                <a:lnTo>
                  <a:pt x="549773" y="552788"/>
                </a:lnTo>
                <a:lnTo>
                  <a:pt x="0" y="5527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594642" y="7104227"/>
            <a:ext cx="549773" cy="552788"/>
          </a:xfrm>
          <a:custGeom>
            <a:avLst/>
            <a:gdLst/>
            <a:ahLst/>
            <a:cxnLst/>
            <a:rect r="r" b="b" t="t" l="l"/>
            <a:pathLst>
              <a:path h="552788" w="549773">
                <a:moveTo>
                  <a:pt x="0" y="0"/>
                </a:moveTo>
                <a:lnTo>
                  <a:pt x="549773" y="0"/>
                </a:lnTo>
                <a:lnTo>
                  <a:pt x="549773" y="552788"/>
                </a:lnTo>
                <a:lnTo>
                  <a:pt x="0" y="5527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9594642" y="8209465"/>
            <a:ext cx="549773" cy="552788"/>
          </a:xfrm>
          <a:custGeom>
            <a:avLst/>
            <a:gdLst/>
            <a:ahLst/>
            <a:cxnLst/>
            <a:rect r="r" b="b" t="t" l="l"/>
            <a:pathLst>
              <a:path h="552788" w="549773">
                <a:moveTo>
                  <a:pt x="0" y="0"/>
                </a:moveTo>
                <a:lnTo>
                  <a:pt x="549773" y="0"/>
                </a:lnTo>
                <a:lnTo>
                  <a:pt x="549773" y="552788"/>
                </a:lnTo>
                <a:lnTo>
                  <a:pt x="0" y="5527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42428" y="4257818"/>
            <a:ext cx="7164535" cy="2579232"/>
          </a:xfrm>
          <a:custGeom>
            <a:avLst/>
            <a:gdLst/>
            <a:ahLst/>
            <a:cxnLst/>
            <a:rect r="r" b="b" t="t" l="l"/>
            <a:pathLst>
              <a:path h="2579232" w="7164535">
                <a:moveTo>
                  <a:pt x="0" y="0"/>
                </a:moveTo>
                <a:lnTo>
                  <a:pt x="7164534" y="0"/>
                </a:lnTo>
                <a:lnTo>
                  <a:pt x="7164534" y="2579232"/>
                </a:lnTo>
                <a:lnTo>
                  <a:pt x="0" y="2579232"/>
                </a:lnTo>
                <a:lnTo>
                  <a:pt x="0" y="0"/>
                </a:lnTo>
                <a:close/>
              </a:path>
            </a:pathLst>
          </a:custGeom>
          <a:blipFill>
            <a:blip r:embed="rId4"/>
            <a:stretch>
              <a:fillRect l="0" t="0" r="0" b="0"/>
            </a:stretch>
          </a:blipFill>
        </p:spPr>
      </p:sp>
      <p:sp>
        <p:nvSpPr>
          <p:cNvPr name="TextBox 12" id="12"/>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13" id="13"/>
          <p:cNvSpPr txBox="true"/>
          <p:nvPr/>
        </p:nvSpPr>
        <p:spPr>
          <a:xfrm rot="0">
            <a:off x="9594642" y="2750311"/>
            <a:ext cx="6247008" cy="2436495"/>
          </a:xfrm>
          <a:prstGeom prst="rect">
            <a:avLst/>
          </a:prstGeom>
        </p:spPr>
        <p:txBody>
          <a:bodyPr anchor="t" rtlCol="false" tIns="0" lIns="0" bIns="0" rIns="0">
            <a:spAutoFit/>
          </a:bodyPr>
          <a:lstStyle/>
          <a:p>
            <a:pPr algn="just">
              <a:lnSpc>
                <a:spcPts val="3779"/>
              </a:lnSpc>
              <a:spcBef>
                <a:spcPct val="0"/>
              </a:spcBef>
            </a:pPr>
            <a:r>
              <a:rPr lang="en-US" sz="2700">
                <a:solidFill>
                  <a:srgbClr val="FFFFFF"/>
                </a:solidFill>
                <a:latin typeface="Agrandir"/>
                <a:ea typeface="Agrandir"/>
                <a:cs typeface="Agrandir"/>
                <a:sym typeface="Agrandir"/>
              </a:rPr>
              <a:t>Th</a:t>
            </a:r>
            <a:r>
              <a:rPr lang="en-US" sz="2700">
                <a:solidFill>
                  <a:srgbClr val="FFFFFF"/>
                </a:solidFill>
                <a:latin typeface="Agrandir"/>
                <a:ea typeface="Agrandir"/>
                <a:cs typeface="Agrandir"/>
                <a:sym typeface="Agrandir"/>
              </a:rPr>
              <a:t>e game has a single objective: to move all the disks from the starting peg to the target peg while adhering to 3 golden rules. These rules are as follows:</a:t>
            </a:r>
          </a:p>
        </p:txBody>
      </p:sp>
      <p:sp>
        <p:nvSpPr>
          <p:cNvPr name="TextBox 14" id="14"/>
          <p:cNvSpPr txBox="true"/>
          <p:nvPr/>
        </p:nvSpPr>
        <p:spPr>
          <a:xfrm rot="0">
            <a:off x="10144415" y="5947070"/>
            <a:ext cx="6247008" cy="531495"/>
          </a:xfrm>
          <a:prstGeom prst="rect">
            <a:avLst/>
          </a:prstGeom>
        </p:spPr>
        <p:txBody>
          <a:bodyPr anchor="t" rtlCol="false" tIns="0" lIns="0" bIns="0" rIns="0">
            <a:spAutoFit/>
          </a:bodyPr>
          <a:lstStyle/>
          <a:p>
            <a:pPr algn="just">
              <a:lnSpc>
                <a:spcPts val="3779"/>
              </a:lnSpc>
              <a:spcBef>
                <a:spcPct val="0"/>
              </a:spcBef>
            </a:pPr>
            <a:r>
              <a:rPr lang="en-US" sz="2700">
                <a:solidFill>
                  <a:srgbClr val="FFFFFF"/>
                </a:solidFill>
                <a:latin typeface="Agrandir"/>
                <a:ea typeface="Agrandir"/>
                <a:cs typeface="Agrandir"/>
                <a:sym typeface="Agrandir"/>
              </a:rPr>
              <a:t>O</a:t>
            </a:r>
            <a:r>
              <a:rPr lang="en-US" sz="2700">
                <a:solidFill>
                  <a:srgbClr val="FFFFFF"/>
                </a:solidFill>
                <a:latin typeface="Agrandir"/>
                <a:ea typeface="Agrandir"/>
                <a:cs typeface="Agrandir"/>
                <a:sym typeface="Agrandir"/>
              </a:rPr>
              <a:t>nly one disk can be moved at a time.</a:t>
            </a:r>
          </a:p>
        </p:txBody>
      </p:sp>
      <p:sp>
        <p:nvSpPr>
          <p:cNvPr name="TextBox 15" id="15"/>
          <p:cNvSpPr txBox="true"/>
          <p:nvPr/>
        </p:nvSpPr>
        <p:spPr>
          <a:xfrm rot="0">
            <a:off x="10144415" y="7052961"/>
            <a:ext cx="6858553" cy="531495"/>
          </a:xfrm>
          <a:prstGeom prst="rect">
            <a:avLst/>
          </a:prstGeom>
        </p:spPr>
        <p:txBody>
          <a:bodyPr anchor="t" rtlCol="false" tIns="0" lIns="0" bIns="0" rIns="0">
            <a:spAutoFit/>
          </a:bodyPr>
          <a:lstStyle/>
          <a:p>
            <a:pPr algn="just">
              <a:lnSpc>
                <a:spcPts val="3779"/>
              </a:lnSpc>
              <a:spcBef>
                <a:spcPct val="0"/>
              </a:spcBef>
            </a:pPr>
            <a:r>
              <a:rPr lang="en-US" sz="2700">
                <a:solidFill>
                  <a:srgbClr val="FFFFFF"/>
                </a:solidFill>
                <a:latin typeface="Agrandir"/>
                <a:ea typeface="Agrandir"/>
                <a:cs typeface="Agrandir"/>
                <a:sym typeface="Agrandir"/>
              </a:rPr>
              <a:t>O</a:t>
            </a:r>
            <a:r>
              <a:rPr lang="en-US" sz="2700">
                <a:solidFill>
                  <a:srgbClr val="FFFFFF"/>
                </a:solidFill>
                <a:latin typeface="Agrandir"/>
                <a:ea typeface="Agrandir"/>
                <a:cs typeface="Agrandir"/>
                <a:sym typeface="Agrandir"/>
              </a:rPr>
              <a:t>nly the top disk of a peg can be moved.</a:t>
            </a:r>
          </a:p>
        </p:txBody>
      </p:sp>
      <p:sp>
        <p:nvSpPr>
          <p:cNvPr name="TextBox 16" id="16"/>
          <p:cNvSpPr txBox="true"/>
          <p:nvPr/>
        </p:nvSpPr>
        <p:spPr>
          <a:xfrm rot="0">
            <a:off x="10144415" y="8158199"/>
            <a:ext cx="6683826" cy="1483995"/>
          </a:xfrm>
          <a:prstGeom prst="rect">
            <a:avLst/>
          </a:prstGeom>
        </p:spPr>
        <p:txBody>
          <a:bodyPr anchor="t" rtlCol="false" tIns="0" lIns="0" bIns="0" rIns="0">
            <a:spAutoFit/>
          </a:bodyPr>
          <a:lstStyle/>
          <a:p>
            <a:pPr algn="just">
              <a:lnSpc>
                <a:spcPts val="3779"/>
              </a:lnSpc>
              <a:spcBef>
                <a:spcPct val="0"/>
              </a:spcBef>
            </a:pPr>
            <a:r>
              <a:rPr lang="en-US" sz="2700">
                <a:solidFill>
                  <a:srgbClr val="FFFFFF"/>
                </a:solidFill>
                <a:latin typeface="Agrandir"/>
                <a:ea typeface="Agrandir"/>
                <a:cs typeface="Agrandir"/>
                <a:sym typeface="Agrandir"/>
              </a:rPr>
              <a:t>A </a:t>
            </a:r>
            <a:r>
              <a:rPr lang="en-US" sz="2700">
                <a:solidFill>
                  <a:srgbClr val="FFFFFF"/>
                </a:solidFill>
                <a:latin typeface="Agrandir"/>
                <a:ea typeface="Agrandir"/>
                <a:cs typeface="Agrandir"/>
                <a:sym typeface="Agrandir"/>
              </a:rPr>
              <a:t>larger disk can absolutely never be placed on top of a smaller disk.</a:t>
            </a:r>
          </a:p>
          <a:p>
            <a:pPr algn="just">
              <a:lnSpc>
                <a:spcPts val="377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798956" y="4495800"/>
            <a:ext cx="549773" cy="552788"/>
          </a:xfrm>
          <a:custGeom>
            <a:avLst/>
            <a:gdLst/>
            <a:ahLst/>
            <a:cxnLst/>
            <a:rect r="r" b="b" t="t" l="l"/>
            <a:pathLst>
              <a:path h="552788" w="549773">
                <a:moveTo>
                  <a:pt x="0" y="0"/>
                </a:moveTo>
                <a:lnTo>
                  <a:pt x="549772" y="0"/>
                </a:lnTo>
                <a:lnTo>
                  <a:pt x="549772" y="552788"/>
                </a:lnTo>
                <a:lnTo>
                  <a:pt x="0" y="552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0"/>
            <a:ext cx="2348728" cy="2243036"/>
          </a:xfrm>
          <a:custGeom>
            <a:avLst/>
            <a:gdLst/>
            <a:ahLst/>
            <a:cxnLst/>
            <a:rect r="r" b="b" t="t" l="l"/>
            <a:pathLst>
              <a:path h="2243036" w="2348728">
                <a:moveTo>
                  <a:pt x="0" y="0"/>
                </a:moveTo>
                <a:lnTo>
                  <a:pt x="2348728" y="0"/>
                </a:lnTo>
                <a:lnTo>
                  <a:pt x="2348728" y="2243036"/>
                </a:lnTo>
                <a:lnTo>
                  <a:pt x="0" y="22430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523456" y="4352925"/>
            <a:ext cx="15009634" cy="4867275"/>
          </a:xfrm>
          <a:prstGeom prst="rect">
            <a:avLst/>
          </a:prstGeom>
        </p:spPr>
        <p:txBody>
          <a:bodyPr anchor="t" rtlCol="false" tIns="0" lIns="0" bIns="0" rIns="0">
            <a:spAutoFit/>
          </a:bodyPr>
          <a:lstStyle/>
          <a:p>
            <a:pPr algn="just">
              <a:lnSpc>
                <a:spcPts val="4200"/>
              </a:lnSpc>
            </a:pPr>
            <a:r>
              <a:rPr lang="en-US" sz="3000">
                <a:solidFill>
                  <a:srgbClr val="12356D"/>
                </a:solidFill>
                <a:latin typeface="Agrandir"/>
                <a:ea typeface="Agrandir"/>
                <a:cs typeface="Agrandir"/>
                <a:sym typeface="Agrandir"/>
              </a:rPr>
              <a:t>What makes the Tower of Hanoi an Artificial Intelligence problem is that it cannot be solved with a single closed-form mathematical formula. The AI agent must autonomously find its path step-by-step within a rule-constrained state space. As the number of disks increases, the number of possible configurations grows exponentially according to the formula 3^N, a phenomenon known as a "combinatorial explosion." If the AI navigates blindly in this massive ocean of possibilities, it will inevitably get trapped in infinite loops; this is exactly why an intelligent search strategy is required to efficiently reach the goal.</a:t>
            </a:r>
          </a:p>
          <a:p>
            <a:pPr algn="just">
              <a:lnSpc>
                <a:spcPts val="4200"/>
              </a:lnSpc>
              <a:spcBef>
                <a:spcPct val="0"/>
              </a:spcBef>
            </a:pPr>
          </a:p>
        </p:txBody>
      </p:sp>
      <p:sp>
        <p:nvSpPr>
          <p:cNvPr name="TextBox 9" id="9"/>
          <p:cNvSpPr txBox="true"/>
          <p:nvPr/>
        </p:nvSpPr>
        <p:spPr>
          <a:xfrm rot="0">
            <a:off x="2523456" y="2568744"/>
            <a:ext cx="15009634" cy="2203450"/>
          </a:xfrm>
          <a:prstGeom prst="rect">
            <a:avLst/>
          </a:prstGeom>
        </p:spPr>
        <p:txBody>
          <a:bodyPr anchor="t" rtlCol="false" tIns="0" lIns="0" bIns="0" rIns="0">
            <a:spAutoFit/>
          </a:bodyPr>
          <a:lstStyle/>
          <a:p>
            <a:pPr algn="just">
              <a:lnSpc>
                <a:spcPts val="5599"/>
              </a:lnSpc>
            </a:pPr>
            <a:r>
              <a:rPr lang="en-US" sz="3999" b="true">
                <a:solidFill>
                  <a:srgbClr val="12356D"/>
                </a:solidFill>
                <a:latin typeface="Agrandir Bold"/>
                <a:ea typeface="Agrandir Bold"/>
                <a:cs typeface="Agrandir Bold"/>
                <a:sym typeface="Agrandir Bold"/>
              </a:rPr>
              <a:t>Why Hanoi Tower is Classified as an Artificial Intelligence Search Problem?</a:t>
            </a:r>
          </a:p>
          <a:p>
            <a:pPr algn="just">
              <a:lnSpc>
                <a:spcPts val="55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798956" y="4495800"/>
            <a:ext cx="549773" cy="552788"/>
          </a:xfrm>
          <a:custGeom>
            <a:avLst/>
            <a:gdLst/>
            <a:ahLst/>
            <a:cxnLst/>
            <a:rect r="r" b="b" t="t" l="l"/>
            <a:pathLst>
              <a:path h="552788" w="549773">
                <a:moveTo>
                  <a:pt x="0" y="0"/>
                </a:moveTo>
                <a:lnTo>
                  <a:pt x="549772" y="0"/>
                </a:lnTo>
                <a:lnTo>
                  <a:pt x="549772" y="552788"/>
                </a:lnTo>
                <a:lnTo>
                  <a:pt x="0" y="552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0"/>
            <a:ext cx="2523456" cy="2555398"/>
          </a:xfrm>
          <a:custGeom>
            <a:avLst/>
            <a:gdLst/>
            <a:ahLst/>
            <a:cxnLst/>
            <a:rect r="r" b="b" t="t" l="l"/>
            <a:pathLst>
              <a:path h="2555398" w="2523456">
                <a:moveTo>
                  <a:pt x="0" y="0"/>
                </a:moveTo>
                <a:lnTo>
                  <a:pt x="2523456" y="0"/>
                </a:lnTo>
                <a:lnTo>
                  <a:pt x="2523456" y="2555398"/>
                </a:lnTo>
                <a:lnTo>
                  <a:pt x="0" y="2555398"/>
                </a:lnTo>
                <a:lnTo>
                  <a:pt x="0" y="0"/>
                </a:lnTo>
                <a:close/>
              </a:path>
            </a:pathLst>
          </a:custGeom>
          <a:blipFill>
            <a:blip r:embed="rId5"/>
            <a:stretch>
              <a:fillRect l="0" t="0" r="0" b="0"/>
            </a:stretch>
          </a:blipFill>
        </p:spPr>
      </p:sp>
      <p:sp>
        <p:nvSpPr>
          <p:cNvPr name="TextBox 8" id="8"/>
          <p:cNvSpPr txBox="true"/>
          <p:nvPr/>
        </p:nvSpPr>
        <p:spPr>
          <a:xfrm rot="0">
            <a:off x="2523456" y="4352925"/>
            <a:ext cx="15009634" cy="2733675"/>
          </a:xfrm>
          <a:prstGeom prst="rect">
            <a:avLst/>
          </a:prstGeom>
        </p:spPr>
        <p:txBody>
          <a:bodyPr anchor="t" rtlCol="false" tIns="0" lIns="0" bIns="0" rIns="0">
            <a:spAutoFit/>
          </a:bodyPr>
          <a:lstStyle/>
          <a:p>
            <a:pPr algn="just">
              <a:lnSpc>
                <a:spcPts val="4200"/>
              </a:lnSpc>
              <a:spcBef>
                <a:spcPct val="0"/>
              </a:spcBef>
            </a:pPr>
            <a:r>
              <a:rPr lang="en-US" sz="3000">
                <a:solidFill>
                  <a:srgbClr val="12356D"/>
                </a:solidFill>
                <a:latin typeface="Agrandir"/>
                <a:ea typeface="Agrandir"/>
                <a:cs typeface="Agrandir"/>
                <a:sym typeface="Agrandir"/>
              </a:rPr>
              <a:t>The Tower of Hanoi is an ideal benchmark for evaluating AI search algorithms. Instead of relying on blind, brute-force exploration, our AI agent uses a heuristic function (h(n)) to dynamically evaluate moves. This informed approach allows the system to intelligently prune suboptimal branches, eliminate infinite loops, and efficiently find the shortest optimal path to the goal.</a:t>
            </a:r>
          </a:p>
        </p:txBody>
      </p:sp>
      <p:sp>
        <p:nvSpPr>
          <p:cNvPr name="TextBox 9" id="9"/>
          <p:cNvSpPr txBox="true"/>
          <p:nvPr/>
        </p:nvSpPr>
        <p:spPr>
          <a:xfrm rot="0">
            <a:off x="2523456" y="2579100"/>
            <a:ext cx="15009634" cy="2203450"/>
          </a:xfrm>
          <a:prstGeom prst="rect">
            <a:avLst/>
          </a:prstGeom>
        </p:spPr>
        <p:txBody>
          <a:bodyPr anchor="t" rtlCol="false" tIns="0" lIns="0" bIns="0" rIns="0">
            <a:spAutoFit/>
          </a:bodyPr>
          <a:lstStyle/>
          <a:p>
            <a:pPr algn="just">
              <a:lnSpc>
                <a:spcPts val="5599"/>
              </a:lnSpc>
            </a:pPr>
            <a:r>
              <a:rPr lang="en-US" sz="3999" b="true">
                <a:solidFill>
                  <a:srgbClr val="12356D"/>
                </a:solidFill>
                <a:latin typeface="Agrandir Bold"/>
                <a:ea typeface="Agrandir Bold"/>
                <a:cs typeface="Agrandir Bold"/>
                <a:sym typeface="Agrandir Bold"/>
              </a:rPr>
              <a:t>Why Hanoi Tower is Classified as an Artificial Intelligence Search Problem?</a:t>
            </a:r>
          </a:p>
          <a:p>
            <a:pPr algn="just">
              <a:lnSpc>
                <a:spcPts val="55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0" y="0"/>
            <a:ext cx="2334767" cy="2334767"/>
          </a:xfrm>
          <a:custGeom>
            <a:avLst/>
            <a:gdLst/>
            <a:ahLst/>
            <a:cxnLst/>
            <a:rect r="r" b="b" t="t" l="l"/>
            <a:pathLst>
              <a:path h="2334767" w="2334767">
                <a:moveTo>
                  <a:pt x="0" y="0"/>
                </a:moveTo>
                <a:lnTo>
                  <a:pt x="2334767" y="0"/>
                </a:lnTo>
                <a:lnTo>
                  <a:pt x="2334767" y="2334767"/>
                </a:lnTo>
                <a:lnTo>
                  <a:pt x="0" y="2334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6748" y="4487645"/>
            <a:ext cx="18241252" cy="4549659"/>
          </a:xfrm>
          <a:prstGeom prst="rect">
            <a:avLst/>
          </a:prstGeom>
        </p:spPr>
        <p:txBody>
          <a:bodyPr anchor="t" rtlCol="false" tIns="0" lIns="0" bIns="0" rIns="0">
            <a:spAutoFit/>
          </a:bodyPr>
          <a:lstStyle/>
          <a:p>
            <a:pPr algn="ctr">
              <a:lnSpc>
                <a:spcPts val="4479"/>
              </a:lnSpc>
            </a:pPr>
            <a:r>
              <a:rPr lang="en-US" sz="3199" b="true">
                <a:solidFill>
                  <a:srgbClr val="12356D"/>
                </a:solidFill>
                <a:latin typeface="Agrandir Bold"/>
                <a:ea typeface="Agrandir Bold"/>
                <a:cs typeface="Agrandir Bold"/>
                <a:sym typeface="Agrandir Bold"/>
              </a:rPr>
              <a:t>How We Represented the Problem</a:t>
            </a:r>
          </a:p>
          <a:p>
            <a:pPr algn="ctr">
              <a:lnSpc>
                <a:spcPts val="4200"/>
              </a:lnSpc>
            </a:pPr>
            <a:r>
              <a:rPr lang="en-US" sz="3000">
                <a:solidFill>
                  <a:srgbClr val="12356D"/>
                </a:solidFill>
                <a:latin typeface="Agrandir"/>
                <a:ea typeface="Agrandir"/>
                <a:cs typeface="Agrandir"/>
                <a:sym typeface="Agrandir"/>
              </a:rPr>
              <a:t>We used a struct State to track the exact configuration of the puzzle at any moment.</a:t>
            </a:r>
          </a:p>
          <a:p>
            <a:pPr algn="ctr">
              <a:lnSpc>
                <a:spcPts val="4200"/>
              </a:lnSpc>
            </a:pPr>
            <a:r>
              <a:rPr lang="en-US" sz="3000">
                <a:solidFill>
                  <a:srgbClr val="12356D"/>
                </a:solidFill>
                <a:latin typeface="Agrandir"/>
                <a:ea typeface="Agrandir"/>
                <a:cs typeface="Agrandir"/>
                <a:sym typeface="Agrandir"/>
              </a:rPr>
              <a:t>              disk[MAX_DISKS] array: Each index represents a disk, and its value (0, 1, or 2) tells the algorithm which peg that disk is currently on.</a:t>
            </a:r>
          </a:p>
          <a:p>
            <a:pPr algn="ctr">
              <a:lnSpc>
                <a:spcPts val="4200"/>
              </a:lnSpc>
            </a:pPr>
            <a:r>
              <a:rPr lang="en-US" sz="3000">
                <a:solidFill>
                  <a:srgbClr val="12356D"/>
                </a:solidFill>
                <a:latin typeface="Agrandir"/>
                <a:ea typeface="Agrandir"/>
                <a:cs typeface="Agrandir"/>
                <a:sym typeface="Agrandir"/>
              </a:rPr>
              <a:t>            h_n: This stores the heuristic value (estimated distance to goal), which is critical for informed search algorithms like A*.</a:t>
            </a:r>
          </a:p>
          <a:p>
            <a:pPr algn="ctr">
              <a:lnSpc>
                <a:spcPts val="3232"/>
              </a:lnSpc>
              <a:spcBef>
                <a:spcPct val="0"/>
              </a:spcBef>
            </a:pPr>
          </a:p>
          <a:p>
            <a:pPr algn="ctr">
              <a:lnSpc>
                <a:spcPts val="3232"/>
              </a:lnSpc>
              <a:spcBef>
                <a:spcPct val="0"/>
              </a:spcBef>
            </a:pPr>
          </a:p>
          <a:p>
            <a:pPr algn="ctr">
              <a:lnSpc>
                <a:spcPts val="3232"/>
              </a:lnSpc>
              <a:spcBef>
                <a:spcPct val="0"/>
              </a:spcBef>
            </a:pPr>
          </a:p>
        </p:txBody>
      </p:sp>
      <p:sp>
        <p:nvSpPr>
          <p:cNvPr name="Freeform 8" id="8"/>
          <p:cNvSpPr/>
          <p:nvPr/>
        </p:nvSpPr>
        <p:spPr>
          <a:xfrm flipH="false" flipV="false" rot="0">
            <a:off x="753814" y="5143500"/>
            <a:ext cx="411089" cy="413344"/>
          </a:xfrm>
          <a:custGeom>
            <a:avLst/>
            <a:gdLst/>
            <a:ahLst/>
            <a:cxnLst/>
            <a:rect r="r" b="b" t="t" l="l"/>
            <a:pathLst>
              <a:path h="413344" w="411089">
                <a:moveTo>
                  <a:pt x="0" y="0"/>
                </a:moveTo>
                <a:lnTo>
                  <a:pt x="411089" y="0"/>
                </a:lnTo>
                <a:lnTo>
                  <a:pt x="411089" y="413344"/>
                </a:lnTo>
                <a:lnTo>
                  <a:pt x="0" y="4133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753814" y="5769074"/>
            <a:ext cx="413570" cy="415838"/>
          </a:xfrm>
          <a:custGeom>
            <a:avLst/>
            <a:gdLst/>
            <a:ahLst/>
            <a:cxnLst/>
            <a:rect r="r" b="b" t="t" l="l"/>
            <a:pathLst>
              <a:path h="415838" w="413570">
                <a:moveTo>
                  <a:pt x="0" y="0"/>
                </a:moveTo>
                <a:lnTo>
                  <a:pt x="413569" y="0"/>
                </a:lnTo>
                <a:lnTo>
                  <a:pt x="413569" y="415838"/>
                </a:lnTo>
                <a:lnTo>
                  <a:pt x="0" y="4158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753814" y="6843437"/>
            <a:ext cx="413570" cy="415838"/>
          </a:xfrm>
          <a:custGeom>
            <a:avLst/>
            <a:gdLst/>
            <a:ahLst/>
            <a:cxnLst/>
            <a:rect r="r" b="b" t="t" l="l"/>
            <a:pathLst>
              <a:path h="415838" w="413570">
                <a:moveTo>
                  <a:pt x="0" y="0"/>
                </a:moveTo>
                <a:lnTo>
                  <a:pt x="413569" y="0"/>
                </a:lnTo>
                <a:lnTo>
                  <a:pt x="413569" y="415838"/>
                </a:lnTo>
                <a:lnTo>
                  <a:pt x="0" y="4158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321662" y="8134372"/>
            <a:ext cx="11325521" cy="1805865"/>
          </a:xfrm>
          <a:custGeom>
            <a:avLst/>
            <a:gdLst/>
            <a:ahLst/>
            <a:cxnLst/>
            <a:rect r="r" b="b" t="t" l="l"/>
            <a:pathLst>
              <a:path h="1805865" w="11325521">
                <a:moveTo>
                  <a:pt x="0" y="0"/>
                </a:moveTo>
                <a:lnTo>
                  <a:pt x="11325521" y="0"/>
                </a:lnTo>
                <a:lnTo>
                  <a:pt x="11325521" y="1805865"/>
                </a:lnTo>
                <a:lnTo>
                  <a:pt x="0" y="1805865"/>
                </a:lnTo>
                <a:lnTo>
                  <a:pt x="0" y="0"/>
                </a:lnTo>
                <a:close/>
              </a:path>
            </a:pathLst>
          </a:custGeom>
          <a:blipFill>
            <a:blip r:embed="rId7"/>
            <a:stretch>
              <a:fillRect l="-519" t="-21029" r="-386" b="0"/>
            </a:stretch>
          </a:blipFill>
        </p:spPr>
      </p:sp>
      <p:sp>
        <p:nvSpPr>
          <p:cNvPr name="TextBox 12" id="12"/>
          <p:cNvSpPr txBox="true"/>
          <p:nvPr/>
        </p:nvSpPr>
        <p:spPr>
          <a:xfrm rot="0">
            <a:off x="4828342" y="2807058"/>
            <a:ext cx="8312161" cy="1036320"/>
          </a:xfrm>
          <a:prstGeom prst="rect">
            <a:avLst/>
          </a:prstGeom>
        </p:spPr>
        <p:txBody>
          <a:bodyPr anchor="t" rtlCol="false" tIns="0" lIns="0" bIns="0" rIns="0">
            <a:spAutoFit/>
          </a:bodyPr>
          <a:lstStyle/>
          <a:p>
            <a:pPr algn="ctr">
              <a:lnSpc>
                <a:spcPts val="8189"/>
              </a:lnSpc>
            </a:pPr>
            <a:r>
              <a:rPr lang="en-US" sz="6999">
                <a:solidFill>
                  <a:srgbClr val="12356D"/>
                </a:solidFill>
                <a:latin typeface="Anton"/>
                <a:ea typeface="Anton"/>
                <a:cs typeface="Anton"/>
                <a:sym typeface="Anton"/>
              </a:rPr>
              <a:t>2-PROBLEM</a:t>
            </a:r>
            <a:r>
              <a:rPr lang="en-US" sz="6999">
                <a:solidFill>
                  <a:srgbClr val="12356D"/>
                </a:solidFill>
                <a:latin typeface="Anton"/>
                <a:ea typeface="Anton"/>
                <a:cs typeface="Anton"/>
                <a:sym typeface="Anton"/>
              </a:rPr>
              <a:t> DEFINITION</a:t>
            </a:r>
          </a:p>
        </p:txBody>
      </p:sp>
      <p:sp>
        <p:nvSpPr>
          <p:cNvPr name="TextBox 13" id="13"/>
          <p:cNvSpPr txBox="true"/>
          <p:nvPr/>
        </p:nvSpPr>
        <p:spPr>
          <a:xfrm rot="0">
            <a:off x="6108590" y="3969612"/>
            <a:ext cx="5749093" cy="793750"/>
          </a:xfrm>
          <a:prstGeom prst="rect">
            <a:avLst/>
          </a:prstGeom>
        </p:spPr>
        <p:txBody>
          <a:bodyPr anchor="t" rtlCol="false" tIns="0" lIns="0" bIns="0" rIns="0">
            <a:spAutoFit/>
          </a:bodyPr>
          <a:lstStyle/>
          <a:p>
            <a:pPr algn="ctr">
              <a:lnSpc>
                <a:spcPts val="5599"/>
              </a:lnSpc>
              <a:spcBef>
                <a:spcPct val="0"/>
              </a:spcBef>
            </a:pPr>
            <a:r>
              <a:rPr lang="en-US" b="true" sz="3999">
                <a:solidFill>
                  <a:srgbClr val="12356D"/>
                </a:solidFill>
                <a:latin typeface="Agrandir Bold"/>
                <a:ea typeface="Agrandir Bold"/>
                <a:cs typeface="Agrandir Bold"/>
                <a:sym typeface="Agrandir Bold"/>
              </a:rPr>
              <a:t>-States-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006663" y="-5493771"/>
            <a:ext cx="7955520" cy="79555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882529" y="3397536"/>
            <a:ext cx="8203787" cy="6706893"/>
          </a:xfrm>
          <a:custGeom>
            <a:avLst/>
            <a:gdLst/>
            <a:ahLst/>
            <a:cxnLst/>
            <a:rect r="r" b="b" t="t" l="l"/>
            <a:pathLst>
              <a:path h="6706893" w="8203787">
                <a:moveTo>
                  <a:pt x="0" y="0"/>
                </a:moveTo>
                <a:lnTo>
                  <a:pt x="8203787" y="0"/>
                </a:lnTo>
                <a:lnTo>
                  <a:pt x="8203787" y="6706893"/>
                </a:lnTo>
                <a:lnTo>
                  <a:pt x="0" y="6706893"/>
                </a:lnTo>
                <a:lnTo>
                  <a:pt x="0" y="0"/>
                </a:lnTo>
                <a:close/>
              </a:path>
            </a:pathLst>
          </a:custGeom>
          <a:blipFill>
            <a:blip r:embed="rId2"/>
            <a:stretch>
              <a:fillRect l="-1191" t="0" r="-2999" b="-1796"/>
            </a:stretch>
          </a:blipFill>
        </p:spPr>
      </p:sp>
      <p:sp>
        <p:nvSpPr>
          <p:cNvPr name="TextBox 6" id="6"/>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7" id="7"/>
          <p:cNvSpPr txBox="true"/>
          <p:nvPr/>
        </p:nvSpPr>
        <p:spPr>
          <a:xfrm rot="0">
            <a:off x="6170659" y="2471274"/>
            <a:ext cx="5627527" cy="752475"/>
          </a:xfrm>
          <a:prstGeom prst="rect">
            <a:avLst/>
          </a:prstGeom>
        </p:spPr>
        <p:txBody>
          <a:bodyPr anchor="t" rtlCol="false" tIns="0" lIns="0" bIns="0" rIns="0">
            <a:spAutoFit/>
          </a:bodyPr>
          <a:lstStyle/>
          <a:p>
            <a:pPr algn="ctr">
              <a:lnSpc>
                <a:spcPts val="5850"/>
              </a:lnSpc>
            </a:pPr>
            <a:r>
              <a:rPr lang="en-US" sz="5000">
                <a:solidFill>
                  <a:srgbClr val="CDE8F9"/>
                </a:solidFill>
                <a:latin typeface="Anton"/>
                <a:ea typeface="Anton"/>
                <a:cs typeface="Anton"/>
                <a:sym typeface="Anton"/>
              </a:rPr>
              <a:t>INITIAL STATE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006663" y="-4569350"/>
            <a:ext cx="7955520" cy="79555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368551" y="-403892"/>
            <a:ext cx="10975164" cy="10975164"/>
          </a:xfrm>
          <a:custGeom>
            <a:avLst/>
            <a:gdLst/>
            <a:ahLst/>
            <a:cxnLst/>
            <a:rect r="r" b="b" t="t" l="l"/>
            <a:pathLst>
              <a:path h="10975164" w="10975164">
                <a:moveTo>
                  <a:pt x="0" y="0"/>
                </a:moveTo>
                <a:lnTo>
                  <a:pt x="10975164" y="0"/>
                </a:lnTo>
                <a:lnTo>
                  <a:pt x="10975164" y="10975165"/>
                </a:lnTo>
                <a:lnTo>
                  <a:pt x="0" y="10975165"/>
                </a:lnTo>
                <a:lnTo>
                  <a:pt x="0" y="0"/>
                </a:lnTo>
                <a:close/>
              </a:path>
            </a:pathLst>
          </a:custGeom>
          <a:blipFill>
            <a:blip r:embed="rId2">
              <a:alphaModFix amt="16000"/>
            </a:blip>
            <a:stretch>
              <a:fillRect l="0" t="0" r="0" b="0"/>
            </a:stretch>
          </a:blipFill>
        </p:spPr>
      </p:sp>
      <p:sp>
        <p:nvSpPr>
          <p:cNvPr name="Freeform 6" id="6"/>
          <p:cNvSpPr/>
          <p:nvPr/>
        </p:nvSpPr>
        <p:spPr>
          <a:xfrm flipH="false" flipV="false" rot="0">
            <a:off x="8044464" y="1028700"/>
            <a:ext cx="2199071" cy="3119250"/>
          </a:xfrm>
          <a:custGeom>
            <a:avLst/>
            <a:gdLst/>
            <a:ahLst/>
            <a:cxnLst/>
            <a:rect r="r" b="b" t="t" l="l"/>
            <a:pathLst>
              <a:path h="3119250" w="2199071">
                <a:moveTo>
                  <a:pt x="0" y="0"/>
                </a:moveTo>
                <a:lnTo>
                  <a:pt x="2199072" y="0"/>
                </a:lnTo>
                <a:lnTo>
                  <a:pt x="2199072" y="3119250"/>
                </a:lnTo>
                <a:lnTo>
                  <a:pt x="0" y="3119250"/>
                </a:lnTo>
                <a:lnTo>
                  <a:pt x="0" y="0"/>
                </a:lnTo>
                <a:close/>
              </a:path>
            </a:pathLst>
          </a:custGeom>
          <a:blipFill>
            <a:blip r:embed="rId3"/>
            <a:stretch>
              <a:fillRect l="0" t="0" r="0" b="0"/>
            </a:stretch>
          </a:blipFill>
        </p:spPr>
      </p:sp>
      <p:sp>
        <p:nvSpPr>
          <p:cNvPr name="TextBox 7" id="7"/>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8" id="8"/>
          <p:cNvSpPr txBox="true"/>
          <p:nvPr/>
        </p:nvSpPr>
        <p:spPr>
          <a:xfrm rot="0">
            <a:off x="548143" y="4748245"/>
            <a:ext cx="17191713" cy="3024155"/>
          </a:xfrm>
          <a:prstGeom prst="rect">
            <a:avLst/>
          </a:prstGeom>
        </p:spPr>
        <p:txBody>
          <a:bodyPr anchor="t" rtlCol="false" tIns="0" lIns="0" bIns="0" rIns="0">
            <a:spAutoFit/>
          </a:bodyPr>
          <a:lstStyle/>
          <a:p>
            <a:pPr algn="just">
              <a:lnSpc>
                <a:spcPts val="3939"/>
              </a:lnSpc>
              <a:spcBef>
                <a:spcPct val="0"/>
              </a:spcBef>
            </a:pPr>
            <a:r>
              <a:rPr lang="en-US" sz="2813">
                <a:solidFill>
                  <a:srgbClr val="FFFFFF"/>
                </a:solidFill>
                <a:latin typeface="Agrandir"/>
                <a:ea typeface="Agrandir"/>
                <a:cs typeface="Agrandir"/>
                <a:sym typeface="Agrandir"/>
              </a:rPr>
              <a:t>In our state-space search, the initial state represents the environment's configuration before any AI actions occur. For a problem size of N disks (3, 5, or 9), all disks are initially stacked on the source peg (Peg A) in descending order of size, leaving Peg B and Peg C completely empty. Programmatically, this exact layout is mapped into the struct State variable, serving as the root node from which our algorithms begin their frontier expansion.</a:t>
            </a:r>
          </a:p>
          <a:p>
            <a:pPr algn="just">
              <a:lnSpc>
                <a:spcPts val="393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0" y="0"/>
            <a:ext cx="2992898" cy="2962969"/>
          </a:xfrm>
          <a:custGeom>
            <a:avLst/>
            <a:gdLst/>
            <a:ahLst/>
            <a:cxnLst/>
            <a:rect r="r" b="b" t="t" l="l"/>
            <a:pathLst>
              <a:path h="2962969" w="2992898">
                <a:moveTo>
                  <a:pt x="0" y="0"/>
                </a:moveTo>
                <a:lnTo>
                  <a:pt x="2992898" y="0"/>
                </a:lnTo>
                <a:lnTo>
                  <a:pt x="2992898" y="2962969"/>
                </a:lnTo>
                <a:lnTo>
                  <a:pt x="0" y="29629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930333" y="7413194"/>
            <a:ext cx="5650629" cy="1815265"/>
          </a:xfrm>
          <a:custGeom>
            <a:avLst/>
            <a:gdLst/>
            <a:ahLst/>
            <a:cxnLst/>
            <a:rect r="r" b="b" t="t" l="l"/>
            <a:pathLst>
              <a:path h="1815265" w="5650629">
                <a:moveTo>
                  <a:pt x="0" y="0"/>
                </a:moveTo>
                <a:lnTo>
                  <a:pt x="5650629" y="0"/>
                </a:lnTo>
                <a:lnTo>
                  <a:pt x="5650629" y="1815265"/>
                </a:lnTo>
                <a:lnTo>
                  <a:pt x="0" y="1815265"/>
                </a:lnTo>
                <a:lnTo>
                  <a:pt x="0" y="0"/>
                </a:lnTo>
                <a:close/>
              </a:path>
            </a:pathLst>
          </a:custGeom>
          <a:blipFill>
            <a:blip r:embed="rId5"/>
            <a:stretch>
              <a:fillRect l="0" t="0" r="0" b="0"/>
            </a:stretch>
          </a:blipFill>
        </p:spPr>
      </p:sp>
      <p:sp>
        <p:nvSpPr>
          <p:cNvPr name="TextBox 8" id="8"/>
          <p:cNvSpPr txBox="true"/>
          <p:nvPr/>
        </p:nvSpPr>
        <p:spPr>
          <a:xfrm rot="0">
            <a:off x="6076145" y="3072781"/>
            <a:ext cx="5816556" cy="752475"/>
          </a:xfrm>
          <a:prstGeom prst="rect">
            <a:avLst/>
          </a:prstGeom>
        </p:spPr>
        <p:txBody>
          <a:bodyPr anchor="t" rtlCol="false" tIns="0" lIns="0" bIns="0" rIns="0">
            <a:spAutoFit/>
          </a:bodyPr>
          <a:lstStyle/>
          <a:p>
            <a:pPr algn="ctr">
              <a:lnSpc>
                <a:spcPts val="5850"/>
              </a:lnSpc>
            </a:pPr>
            <a:r>
              <a:rPr lang="en-US" sz="5000">
                <a:solidFill>
                  <a:srgbClr val="12356D"/>
                </a:solidFill>
                <a:latin typeface="Anton"/>
                <a:ea typeface="Anton"/>
                <a:cs typeface="Anton"/>
                <a:sym typeface="Anton"/>
              </a:rPr>
              <a:t>GOAL STATE</a:t>
            </a:r>
          </a:p>
        </p:txBody>
      </p:sp>
      <p:sp>
        <p:nvSpPr>
          <p:cNvPr name="TextBox 9" id="9"/>
          <p:cNvSpPr txBox="true"/>
          <p:nvPr/>
        </p:nvSpPr>
        <p:spPr>
          <a:xfrm rot="0">
            <a:off x="2096513" y="4146119"/>
            <a:ext cx="14504728" cy="3267075"/>
          </a:xfrm>
          <a:prstGeom prst="rect">
            <a:avLst/>
          </a:prstGeom>
        </p:spPr>
        <p:txBody>
          <a:bodyPr anchor="t" rtlCol="false" tIns="0" lIns="0" bIns="0" rIns="0">
            <a:spAutoFit/>
          </a:bodyPr>
          <a:lstStyle/>
          <a:p>
            <a:pPr algn="just">
              <a:lnSpc>
                <a:spcPts val="4200"/>
              </a:lnSpc>
            </a:pPr>
            <a:r>
              <a:rPr lang="en-US" sz="3000">
                <a:solidFill>
                  <a:srgbClr val="12356D"/>
                </a:solidFill>
                <a:latin typeface="Agrandir"/>
                <a:ea typeface="Agrandir"/>
                <a:cs typeface="Agrandir"/>
                <a:sym typeface="Agrandir"/>
              </a:rPr>
              <a:t>The goal state defines the specific terminal criteria that a state must satisfy for the search algorithm to stop and report a successful solution. In this project, the goal test logic continuously evaluates whether a newly generated node matches the objective configuration of the Hanoi Towers puzzle.</a:t>
            </a:r>
          </a:p>
          <a:p>
            <a:pPr algn="just">
              <a:lnSpc>
                <a:spcPts val="4200"/>
              </a:lnSpc>
            </a:pPr>
          </a:p>
          <a:p>
            <a:pPr algn="just">
              <a:lnSpc>
                <a:spcPts val="42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5323781"/>
            <a:ext cx="549773" cy="552788"/>
          </a:xfrm>
          <a:custGeom>
            <a:avLst/>
            <a:gdLst/>
            <a:ahLst/>
            <a:cxnLst/>
            <a:rect r="r" b="b" t="t" l="l"/>
            <a:pathLst>
              <a:path h="552788" w="549773">
                <a:moveTo>
                  <a:pt x="0" y="0"/>
                </a:moveTo>
                <a:lnTo>
                  <a:pt x="549773" y="0"/>
                </a:lnTo>
                <a:lnTo>
                  <a:pt x="549773" y="552788"/>
                </a:lnTo>
                <a:lnTo>
                  <a:pt x="0" y="552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28700" y="6927149"/>
            <a:ext cx="549773" cy="552788"/>
          </a:xfrm>
          <a:custGeom>
            <a:avLst/>
            <a:gdLst/>
            <a:ahLst/>
            <a:cxnLst/>
            <a:rect r="r" b="b" t="t" l="l"/>
            <a:pathLst>
              <a:path h="552788" w="549773">
                <a:moveTo>
                  <a:pt x="0" y="0"/>
                </a:moveTo>
                <a:lnTo>
                  <a:pt x="549773" y="0"/>
                </a:lnTo>
                <a:lnTo>
                  <a:pt x="549773" y="552788"/>
                </a:lnTo>
                <a:lnTo>
                  <a:pt x="0" y="552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528863" y="3163161"/>
            <a:ext cx="15230274" cy="6264275"/>
          </a:xfrm>
          <a:prstGeom prst="rect">
            <a:avLst/>
          </a:prstGeom>
        </p:spPr>
        <p:txBody>
          <a:bodyPr anchor="t" rtlCol="false" tIns="0" lIns="0" bIns="0" rIns="0">
            <a:spAutoFit/>
          </a:bodyPr>
          <a:lstStyle/>
          <a:p>
            <a:pPr algn="ctr">
              <a:lnSpc>
                <a:spcPts val="4199"/>
              </a:lnSpc>
              <a:spcBef>
                <a:spcPct val="0"/>
              </a:spcBef>
            </a:pPr>
            <a:r>
              <a:rPr lang="en-US" sz="2999">
                <a:solidFill>
                  <a:srgbClr val="12356D"/>
                </a:solidFill>
                <a:latin typeface="Agrandir"/>
                <a:ea typeface="Agrandir"/>
                <a:cs typeface="Agrandir"/>
                <a:sym typeface="Agrandir"/>
              </a:rPr>
              <a:t>Formally, a state is classified as the target goal state if and only if it meets the following final criteria:</a:t>
            </a:r>
          </a:p>
          <a:p>
            <a:pPr algn="ctr">
              <a:lnSpc>
                <a:spcPts val="4199"/>
              </a:lnSpc>
              <a:spcBef>
                <a:spcPct val="0"/>
              </a:spcBef>
            </a:pPr>
          </a:p>
          <a:p>
            <a:pPr algn="ctr">
              <a:lnSpc>
                <a:spcPts val="4199"/>
              </a:lnSpc>
              <a:spcBef>
                <a:spcPct val="0"/>
              </a:spcBef>
            </a:pPr>
          </a:p>
          <a:p>
            <a:pPr algn="ctr">
              <a:lnSpc>
                <a:spcPts val="4199"/>
              </a:lnSpc>
              <a:spcBef>
                <a:spcPct val="0"/>
              </a:spcBef>
            </a:pPr>
            <a:r>
              <a:rPr lang="en-US" sz="2999">
                <a:solidFill>
                  <a:srgbClr val="12356D"/>
                </a:solidFill>
                <a:latin typeface="Agrandir"/>
                <a:ea typeface="Agrandir"/>
                <a:cs typeface="Agrandir"/>
                <a:sym typeface="Agrandir"/>
              </a:rPr>
              <a:t>All N disks have been successfully transferred from the initial peg to the designated destination peg, Peg C</a:t>
            </a:r>
          </a:p>
          <a:p>
            <a:pPr algn="ctr">
              <a:lnSpc>
                <a:spcPts val="4199"/>
              </a:lnSpc>
              <a:spcBef>
                <a:spcPct val="0"/>
              </a:spcBef>
            </a:pPr>
          </a:p>
          <a:p>
            <a:pPr algn="ctr">
              <a:lnSpc>
                <a:spcPts val="4199"/>
              </a:lnSpc>
              <a:spcBef>
                <a:spcPct val="0"/>
              </a:spcBef>
            </a:pPr>
            <a:r>
              <a:rPr lang="en-US" sz="2999">
                <a:solidFill>
                  <a:srgbClr val="12356D"/>
                </a:solidFill>
                <a:latin typeface="Agrandir"/>
                <a:ea typeface="Agrandir"/>
                <a:cs typeface="Agrandir"/>
                <a:sym typeface="Agrandir"/>
              </a:rPr>
              <a:t>The disks on Peg C must perfectly replicate the original size hierarchy, stacked in descending order of their diameters from bottom to top.</a:t>
            </a:r>
          </a:p>
          <a:p>
            <a:pPr algn="ctr">
              <a:lnSpc>
                <a:spcPts val="4199"/>
              </a:lnSpc>
              <a:spcBef>
                <a:spcPct val="0"/>
              </a:spcBef>
            </a:pPr>
          </a:p>
          <a:p>
            <a:pPr algn="ctr">
              <a:lnSpc>
                <a:spcPts val="4199"/>
              </a:lnSpc>
              <a:spcBef>
                <a:spcPct val="0"/>
              </a:spcBef>
            </a:pPr>
            <a:r>
              <a:rPr lang="en-US" sz="2999">
                <a:solidFill>
                  <a:srgbClr val="12356D"/>
                </a:solidFill>
                <a:latin typeface="Agrandir"/>
                <a:ea typeface="Agrandir"/>
                <a:cs typeface="Agrandir"/>
                <a:sym typeface="Agrandir"/>
              </a:rPr>
              <a:t>Both the source peg, Peg A, and the auxiliary peg, Peg B , must be entirely empty.</a:t>
            </a:r>
          </a:p>
          <a:p>
            <a:pPr algn="ctr">
              <a:lnSpc>
                <a:spcPts val="3499"/>
              </a:lnSpc>
              <a:spcBef>
                <a:spcPct val="0"/>
              </a:spcBef>
            </a:pPr>
          </a:p>
        </p:txBody>
      </p:sp>
      <p:sp>
        <p:nvSpPr>
          <p:cNvPr name="Freeform 9" id="9"/>
          <p:cNvSpPr/>
          <p:nvPr/>
        </p:nvSpPr>
        <p:spPr>
          <a:xfrm flipH="false" flipV="false" rot="0">
            <a:off x="1028700" y="8442323"/>
            <a:ext cx="549773" cy="552788"/>
          </a:xfrm>
          <a:custGeom>
            <a:avLst/>
            <a:gdLst/>
            <a:ahLst/>
            <a:cxnLst/>
            <a:rect r="r" b="b" t="t" l="l"/>
            <a:pathLst>
              <a:path h="552788" w="549773">
                <a:moveTo>
                  <a:pt x="0" y="0"/>
                </a:moveTo>
                <a:lnTo>
                  <a:pt x="549773" y="0"/>
                </a:lnTo>
                <a:lnTo>
                  <a:pt x="549773" y="552788"/>
                </a:lnTo>
                <a:lnTo>
                  <a:pt x="0" y="552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5006663" y="3339957"/>
            <a:ext cx="8895745" cy="1589314"/>
          </a:xfrm>
          <a:custGeom>
            <a:avLst/>
            <a:gdLst/>
            <a:ahLst/>
            <a:cxnLst/>
            <a:rect r="r" b="b" t="t" l="l"/>
            <a:pathLst>
              <a:path h="1589314" w="8895745">
                <a:moveTo>
                  <a:pt x="0" y="0"/>
                </a:moveTo>
                <a:lnTo>
                  <a:pt x="8895744" y="0"/>
                </a:lnTo>
                <a:lnTo>
                  <a:pt x="8895744" y="1589314"/>
                </a:lnTo>
                <a:lnTo>
                  <a:pt x="0" y="1589314"/>
                </a:lnTo>
                <a:lnTo>
                  <a:pt x="0" y="0"/>
                </a:lnTo>
                <a:close/>
              </a:path>
            </a:pathLst>
          </a:custGeom>
          <a:blipFill>
            <a:blip r:embed="rId3"/>
            <a:stretch>
              <a:fillRect l="0" t="0" r="0" b="0"/>
            </a:stretch>
          </a:blipFill>
        </p:spPr>
      </p:sp>
      <p:sp>
        <p:nvSpPr>
          <p:cNvPr name="TextBox 7" id="7"/>
          <p:cNvSpPr txBox="true"/>
          <p:nvPr/>
        </p:nvSpPr>
        <p:spPr>
          <a:xfrm rot="0">
            <a:off x="593675" y="5369452"/>
            <a:ext cx="17079083" cy="1104901"/>
          </a:xfrm>
          <a:prstGeom prst="rect">
            <a:avLst/>
          </a:prstGeom>
        </p:spPr>
        <p:txBody>
          <a:bodyPr anchor="t" rtlCol="false" tIns="0" lIns="0" bIns="0" rIns="0">
            <a:spAutoFit/>
          </a:bodyPr>
          <a:lstStyle/>
          <a:p>
            <a:pPr algn="ctr">
              <a:lnSpc>
                <a:spcPts val="4199"/>
              </a:lnSpc>
              <a:spcBef>
                <a:spcPct val="0"/>
              </a:spcBef>
            </a:pPr>
            <a:r>
              <a:rPr lang="en-US" sz="2999">
                <a:solidFill>
                  <a:srgbClr val="12356D"/>
                </a:solidFill>
                <a:latin typeface="Agrandir"/>
                <a:ea typeface="Agrandir"/>
                <a:cs typeface="Agrandir"/>
                <a:sym typeface="Agrandir"/>
              </a:rPr>
              <a:t>The algorithm ends when the last disk on peg A moves to peg C; reaching the goal state where peg C is full and the other pegs are completely empty.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006663" y="-5493771"/>
            <a:ext cx="7955520" cy="79555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0"/>
            <a:ext cx="2598997" cy="2605511"/>
          </a:xfrm>
          <a:custGeom>
            <a:avLst/>
            <a:gdLst/>
            <a:ahLst/>
            <a:cxnLst/>
            <a:rect r="r" b="b" t="t" l="l"/>
            <a:pathLst>
              <a:path h="2605511" w="2598997">
                <a:moveTo>
                  <a:pt x="0" y="0"/>
                </a:moveTo>
                <a:lnTo>
                  <a:pt x="2598997" y="0"/>
                </a:lnTo>
                <a:lnTo>
                  <a:pt x="2598997" y="2605511"/>
                </a:lnTo>
                <a:lnTo>
                  <a:pt x="0" y="26055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7" id="7"/>
          <p:cNvSpPr txBox="true"/>
          <p:nvPr/>
        </p:nvSpPr>
        <p:spPr>
          <a:xfrm rot="0">
            <a:off x="4303262" y="2727680"/>
            <a:ext cx="9362321" cy="860103"/>
          </a:xfrm>
          <a:prstGeom prst="rect">
            <a:avLst/>
          </a:prstGeom>
        </p:spPr>
        <p:txBody>
          <a:bodyPr anchor="t" rtlCol="false" tIns="0" lIns="0" bIns="0" rIns="0">
            <a:spAutoFit/>
          </a:bodyPr>
          <a:lstStyle/>
          <a:p>
            <a:pPr algn="l">
              <a:lnSpc>
                <a:spcPts val="6726"/>
              </a:lnSpc>
            </a:pPr>
            <a:r>
              <a:rPr lang="en-US" sz="5748">
                <a:solidFill>
                  <a:srgbClr val="CDE8F9"/>
                </a:solidFill>
                <a:latin typeface="Anton"/>
                <a:ea typeface="Anton"/>
                <a:cs typeface="Anton"/>
                <a:sym typeface="Anton"/>
              </a:rPr>
              <a:t>LEGAL ACTIONS AND CONST</a:t>
            </a:r>
            <a:r>
              <a:rPr lang="en-US" sz="5748">
                <a:solidFill>
                  <a:srgbClr val="CDE8F9"/>
                </a:solidFill>
                <a:latin typeface="Anton"/>
                <a:ea typeface="Anton"/>
                <a:cs typeface="Anton"/>
                <a:sym typeface="Anton"/>
              </a:rPr>
              <a:t>RAINTS</a:t>
            </a:r>
          </a:p>
        </p:txBody>
      </p:sp>
      <p:sp>
        <p:nvSpPr>
          <p:cNvPr name="TextBox 8" id="8"/>
          <p:cNvSpPr txBox="true"/>
          <p:nvPr/>
        </p:nvSpPr>
        <p:spPr>
          <a:xfrm rot="0">
            <a:off x="0" y="4200842"/>
            <a:ext cx="18288000" cy="2631441"/>
          </a:xfrm>
          <a:prstGeom prst="rect">
            <a:avLst/>
          </a:prstGeom>
        </p:spPr>
        <p:txBody>
          <a:bodyPr anchor="t" rtlCol="false" tIns="0" lIns="0" bIns="0" rIns="0">
            <a:spAutoFit/>
          </a:bodyPr>
          <a:lstStyle/>
          <a:p>
            <a:pPr algn="l" marL="626104" indent="-313052" lvl="1">
              <a:lnSpc>
                <a:spcPts val="4059"/>
              </a:lnSpc>
              <a:buFont typeface="Arial"/>
              <a:buChar char="•"/>
            </a:pPr>
            <a:r>
              <a:rPr lang="en-US" sz="2899">
                <a:solidFill>
                  <a:srgbClr val="FFFFFF"/>
                </a:solidFill>
                <a:latin typeface="Agrandir"/>
                <a:ea typeface="Agrandir"/>
                <a:cs typeface="Agrandir"/>
                <a:sym typeface="Agrandir"/>
              </a:rPr>
              <a:t>Only the topmost, unobstructed disk of the source peg can be legally moved during a transition.</a:t>
            </a:r>
          </a:p>
          <a:p>
            <a:pPr algn="l" marL="626104" indent="-313052" lvl="1">
              <a:lnSpc>
                <a:spcPts val="4059"/>
              </a:lnSpc>
              <a:buFont typeface="Arial"/>
              <a:buChar char="•"/>
            </a:pPr>
            <a:r>
              <a:rPr lang="en-US" sz="2899">
                <a:solidFill>
                  <a:srgbClr val="FFFFFF"/>
                </a:solidFill>
                <a:latin typeface="Agrandir"/>
                <a:ea typeface="Agrandir"/>
                <a:cs typeface="Agrandir"/>
                <a:sym typeface="Agrandir"/>
              </a:rPr>
              <a:t>The agent is restricted to moving exactly one disk per state transition, meaning that the simultaneous movement of multiple disks is strictly prohibited.</a:t>
            </a:r>
          </a:p>
          <a:p>
            <a:pPr algn="l" marL="626104" indent="-313052" lvl="1">
              <a:lnSpc>
                <a:spcPts val="4059"/>
              </a:lnSpc>
              <a:buFont typeface="Arial"/>
              <a:buChar char="•"/>
            </a:pPr>
            <a:r>
              <a:rPr lang="en-US" sz="2899">
                <a:solidFill>
                  <a:srgbClr val="FFFFFF"/>
                </a:solidFill>
                <a:latin typeface="Agrandir"/>
                <a:ea typeface="Agrandir"/>
                <a:cs typeface="Agrandir"/>
                <a:sym typeface="Agrandir"/>
              </a:rPr>
              <a:t>A larger disk cannot be placed on top of a smaller disk; thus, the destination peg  must either be completely vacant or host a topmost disk with a diameter strictly greater than the moving disk.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006663" y="-5493771"/>
            <a:ext cx="7955520" cy="79555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898269" y="5143500"/>
            <a:ext cx="11526631" cy="3428975"/>
          </a:xfrm>
          <a:custGeom>
            <a:avLst/>
            <a:gdLst/>
            <a:ahLst/>
            <a:cxnLst/>
            <a:rect r="r" b="b" t="t" l="l"/>
            <a:pathLst>
              <a:path h="3428975" w="11526631">
                <a:moveTo>
                  <a:pt x="0" y="0"/>
                </a:moveTo>
                <a:lnTo>
                  <a:pt x="11526632" y="0"/>
                </a:lnTo>
                <a:lnTo>
                  <a:pt x="11526632" y="3428975"/>
                </a:lnTo>
                <a:lnTo>
                  <a:pt x="0" y="3428975"/>
                </a:lnTo>
                <a:lnTo>
                  <a:pt x="0" y="0"/>
                </a:lnTo>
                <a:close/>
              </a:path>
            </a:pathLst>
          </a:custGeom>
          <a:blipFill>
            <a:blip r:embed="rId2"/>
            <a:stretch>
              <a:fillRect l="0" t="0" r="0" b="0"/>
            </a:stretch>
          </a:blipFill>
        </p:spPr>
      </p:sp>
      <p:sp>
        <p:nvSpPr>
          <p:cNvPr name="TextBox 6" id="6"/>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7" id="7"/>
          <p:cNvSpPr txBox="true"/>
          <p:nvPr/>
        </p:nvSpPr>
        <p:spPr>
          <a:xfrm rot="0">
            <a:off x="1615463" y="1074461"/>
            <a:ext cx="14737919" cy="3001401"/>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Agrandir"/>
                <a:ea typeface="Agrandir"/>
                <a:cs typeface="Agrandir"/>
                <a:sym typeface="Agrandir"/>
              </a:rPr>
              <a:t>I</a:t>
            </a:r>
            <a:r>
              <a:rPr lang="en-US" sz="3500">
                <a:solidFill>
                  <a:srgbClr val="FFFFFF"/>
                </a:solidFill>
                <a:latin typeface="Agrandir"/>
                <a:ea typeface="Agrandir"/>
                <a:cs typeface="Agrandir"/>
                <a:sym typeface="Agrandir"/>
              </a:rPr>
              <a:t>n a state-space search paradigm, an action is a valid operator that transitions the environment from a current state s to a successor state s'. For the Tower of Hanoi, an action is defined as relocating a single disk from a source peg to a destination peg</a:t>
            </a:r>
            <a:r>
              <a:rPr lang="en-US" sz="3500">
                <a:solidFill>
                  <a:srgbClr val="FFFFFF"/>
                </a:solidFill>
                <a:latin typeface="Agrandir"/>
                <a:ea typeface="Agrandir"/>
                <a:cs typeface="Agrandir"/>
                <a:sym typeface="Agrandir"/>
              </a:rPr>
              <a:t>.</a:t>
            </a:r>
          </a:p>
          <a:p>
            <a:pPr algn="ctr">
              <a:lnSpc>
                <a:spcPts val="3386"/>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0" y="0"/>
            <a:ext cx="3015925" cy="2461749"/>
          </a:xfrm>
          <a:custGeom>
            <a:avLst/>
            <a:gdLst/>
            <a:ahLst/>
            <a:cxnLst/>
            <a:rect r="r" b="b" t="t" l="l"/>
            <a:pathLst>
              <a:path h="2461749" w="3015925">
                <a:moveTo>
                  <a:pt x="0" y="0"/>
                </a:moveTo>
                <a:lnTo>
                  <a:pt x="3015925" y="0"/>
                </a:lnTo>
                <a:lnTo>
                  <a:pt x="3015925" y="2461749"/>
                </a:lnTo>
                <a:lnTo>
                  <a:pt x="0" y="24617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076145" y="3072781"/>
            <a:ext cx="5816556" cy="752475"/>
          </a:xfrm>
          <a:prstGeom prst="rect">
            <a:avLst/>
          </a:prstGeom>
        </p:spPr>
        <p:txBody>
          <a:bodyPr anchor="t" rtlCol="false" tIns="0" lIns="0" bIns="0" rIns="0">
            <a:spAutoFit/>
          </a:bodyPr>
          <a:lstStyle/>
          <a:p>
            <a:pPr algn="ctr">
              <a:lnSpc>
                <a:spcPts val="5850"/>
              </a:lnSpc>
            </a:pPr>
            <a:r>
              <a:rPr lang="en-US" sz="5000">
                <a:solidFill>
                  <a:srgbClr val="12356D"/>
                </a:solidFill>
                <a:latin typeface="Anton"/>
                <a:ea typeface="Anton"/>
                <a:cs typeface="Anton"/>
                <a:sym typeface="Anton"/>
              </a:rPr>
              <a:t>TRANSITION MODEL</a:t>
            </a:r>
          </a:p>
        </p:txBody>
      </p:sp>
      <p:sp>
        <p:nvSpPr>
          <p:cNvPr name="TextBox 8" id="8"/>
          <p:cNvSpPr txBox="true"/>
          <p:nvPr/>
        </p:nvSpPr>
        <p:spPr>
          <a:xfrm rot="0">
            <a:off x="2332881" y="3691255"/>
            <a:ext cx="13622238" cy="4034156"/>
          </a:xfrm>
          <a:prstGeom prst="rect">
            <a:avLst/>
          </a:prstGeom>
        </p:spPr>
        <p:txBody>
          <a:bodyPr anchor="t" rtlCol="false" tIns="0" lIns="0" bIns="0" rIns="0">
            <a:spAutoFit/>
          </a:bodyPr>
          <a:lstStyle/>
          <a:p>
            <a:pPr algn="l">
              <a:lnSpc>
                <a:spcPts val="3919"/>
              </a:lnSpc>
            </a:pPr>
            <a:r>
              <a:rPr lang="en-US" sz="2799">
                <a:solidFill>
                  <a:srgbClr val="12356D"/>
                </a:solidFill>
                <a:latin typeface="Agrandir"/>
                <a:ea typeface="Agrandir"/>
                <a:cs typeface="Agrandir"/>
                <a:sym typeface="Agrandir"/>
              </a:rPr>
              <a:t>The Logic: Defines the rules for moving from a Parent State to a Successor State.</a:t>
            </a:r>
          </a:p>
          <a:p>
            <a:pPr algn="l">
              <a:lnSpc>
                <a:spcPts val="3919"/>
              </a:lnSpc>
            </a:pPr>
            <a:r>
              <a:rPr lang="en-US" sz="2799">
                <a:solidFill>
                  <a:srgbClr val="12356D"/>
                </a:solidFill>
                <a:latin typeface="Agrandir"/>
                <a:ea typeface="Agrandir"/>
                <a:cs typeface="Agrandir"/>
                <a:sym typeface="Agrandir"/>
              </a:rPr>
              <a:t> Validation Rules:</a:t>
            </a:r>
          </a:p>
          <a:p>
            <a:pPr algn="l" marL="604515" indent="-302257" lvl="1">
              <a:lnSpc>
                <a:spcPts val="3919"/>
              </a:lnSpc>
              <a:buFont typeface="Arial"/>
              <a:buChar char="•"/>
            </a:pPr>
            <a:r>
              <a:rPr lang="en-US" sz="2799">
                <a:solidFill>
                  <a:srgbClr val="12356D"/>
                </a:solidFill>
                <a:latin typeface="Agrandir"/>
                <a:ea typeface="Agrandir"/>
                <a:cs typeface="Agrandir"/>
                <a:sym typeface="Agrandir"/>
              </a:rPr>
              <a:t>Checks if the source peg has disks.</a:t>
            </a:r>
          </a:p>
          <a:p>
            <a:pPr algn="l" marL="604515" indent="-302257" lvl="1">
              <a:lnSpc>
                <a:spcPts val="3919"/>
              </a:lnSpc>
              <a:buFont typeface="Arial"/>
              <a:buChar char="•"/>
            </a:pPr>
            <a:r>
              <a:rPr lang="en-US" sz="2799">
                <a:solidFill>
                  <a:srgbClr val="12356D"/>
                </a:solidFill>
                <a:latin typeface="Agrandir"/>
                <a:ea typeface="Agrandir"/>
                <a:cs typeface="Agrandir"/>
                <a:sym typeface="Agrandir"/>
              </a:rPr>
              <a:t>Strictly prevents placing larger disks on top of smaller ones.</a:t>
            </a:r>
          </a:p>
          <a:p>
            <a:pPr algn="l" marL="604515" indent="-302257" lvl="1">
              <a:lnSpc>
                <a:spcPts val="3919"/>
              </a:lnSpc>
              <a:buFont typeface="Arial"/>
              <a:buChar char="•"/>
            </a:pPr>
            <a:r>
              <a:rPr lang="en-US" sz="2799">
                <a:solidFill>
                  <a:srgbClr val="12356D"/>
                </a:solidFill>
                <a:latin typeface="Agrandir"/>
                <a:ea typeface="Agrandir"/>
                <a:cs typeface="Agrandir"/>
                <a:sym typeface="Agrandir"/>
              </a:rPr>
              <a:t>Returns false immediately if any constraint is violated.</a:t>
            </a:r>
          </a:p>
          <a:p>
            <a:pPr algn="l">
              <a:lnSpc>
                <a:spcPts val="3919"/>
              </a:lnSpc>
            </a:pPr>
            <a:r>
              <a:rPr lang="en-US" sz="2799">
                <a:solidFill>
                  <a:srgbClr val="12356D"/>
                </a:solidFill>
                <a:latin typeface="Agrandir"/>
                <a:ea typeface="Agrandir"/>
                <a:cs typeface="Agrandir"/>
                <a:sym typeface="Agrandir"/>
              </a:rPr>
              <a:t> State &amp; Cost Update:</a:t>
            </a:r>
          </a:p>
          <a:p>
            <a:pPr algn="l" marL="604515" indent="-302257" lvl="1">
              <a:lnSpc>
                <a:spcPts val="3919"/>
              </a:lnSpc>
              <a:buFont typeface="Arial"/>
              <a:buChar char="•"/>
            </a:pPr>
            <a:r>
              <a:rPr lang="en-US" sz="2799">
                <a:solidFill>
                  <a:srgbClr val="12356D"/>
                </a:solidFill>
                <a:latin typeface="Agrandir"/>
                <a:ea typeface="Agrandir"/>
                <a:cs typeface="Agrandir"/>
                <a:sym typeface="Agrandir"/>
              </a:rPr>
              <a:t>Saves the valid move into Transition_Model.new_state.</a:t>
            </a:r>
          </a:p>
          <a:p>
            <a:pPr algn="l" marL="604515" indent="-302257" lvl="1">
              <a:lnSpc>
                <a:spcPts val="3919"/>
              </a:lnSpc>
              <a:buFont typeface="Arial"/>
              <a:buChar char="•"/>
            </a:pPr>
            <a:r>
              <a:rPr lang="en-US" sz="2799">
                <a:solidFill>
                  <a:srgbClr val="12356D"/>
                </a:solidFill>
                <a:latin typeface="Agrandir"/>
                <a:ea typeface="Agrandir"/>
                <a:cs typeface="Agrandir"/>
                <a:sym typeface="Agrandir"/>
              </a:rPr>
              <a:t>Adds a fixed +1.0 cost to the path cost (g(n)) for every single step.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4769038" y="2605884"/>
            <a:ext cx="9345485" cy="6652416"/>
          </a:xfrm>
          <a:custGeom>
            <a:avLst/>
            <a:gdLst/>
            <a:ahLst/>
            <a:cxnLst/>
            <a:rect r="r" b="b" t="t" l="l"/>
            <a:pathLst>
              <a:path h="6652416" w="9345485">
                <a:moveTo>
                  <a:pt x="0" y="0"/>
                </a:moveTo>
                <a:lnTo>
                  <a:pt x="9345486" y="0"/>
                </a:lnTo>
                <a:lnTo>
                  <a:pt x="9345486" y="6652416"/>
                </a:lnTo>
                <a:lnTo>
                  <a:pt x="0" y="6652416"/>
                </a:lnTo>
                <a:lnTo>
                  <a:pt x="0" y="0"/>
                </a:lnTo>
                <a:close/>
              </a:path>
            </a:pathLst>
          </a:custGeom>
          <a:blipFill>
            <a:blip r:embed="rId3"/>
            <a:stretch>
              <a:fillRect l="0" t="0" r="0" b="0"/>
            </a:stretch>
          </a:blipFill>
        </p:spPr>
      </p:sp>
      <p:sp>
        <p:nvSpPr>
          <p:cNvPr name="TextBox 7" id="7"/>
          <p:cNvSpPr txBox="true"/>
          <p:nvPr/>
        </p:nvSpPr>
        <p:spPr>
          <a:xfrm rot="0">
            <a:off x="6755867" y="9258300"/>
            <a:ext cx="4776267" cy="60007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Agrandir"/>
                <a:ea typeface="Agrandir"/>
                <a:cs typeface="Agrandir"/>
                <a:sym typeface="Agrandir"/>
              </a:rPr>
              <a:t>Transition Model Structure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436793" y="8067435"/>
            <a:ext cx="6662184" cy="1190865"/>
          </a:xfrm>
          <a:custGeom>
            <a:avLst/>
            <a:gdLst/>
            <a:ahLst/>
            <a:cxnLst/>
            <a:rect r="r" b="b" t="t" l="l"/>
            <a:pathLst>
              <a:path h="1190865" w="6662184">
                <a:moveTo>
                  <a:pt x="0" y="0"/>
                </a:moveTo>
                <a:lnTo>
                  <a:pt x="6662184" y="0"/>
                </a:lnTo>
                <a:lnTo>
                  <a:pt x="6662184" y="1190865"/>
                </a:lnTo>
                <a:lnTo>
                  <a:pt x="0" y="1190865"/>
                </a:lnTo>
                <a:lnTo>
                  <a:pt x="0" y="0"/>
                </a:lnTo>
                <a:close/>
              </a:path>
            </a:pathLst>
          </a:custGeom>
          <a:blipFill>
            <a:blip r:embed="rId3"/>
            <a:stretch>
              <a:fillRect l="0" t="0" r="0" b="0"/>
            </a:stretch>
          </a:blipFill>
        </p:spPr>
      </p:sp>
      <p:sp>
        <p:nvSpPr>
          <p:cNvPr name="Freeform 7" id="7"/>
          <p:cNvSpPr/>
          <p:nvPr/>
        </p:nvSpPr>
        <p:spPr>
          <a:xfrm flipH="false" flipV="false" rot="0">
            <a:off x="0" y="8067435"/>
            <a:ext cx="11077818" cy="1190865"/>
          </a:xfrm>
          <a:custGeom>
            <a:avLst/>
            <a:gdLst/>
            <a:ahLst/>
            <a:cxnLst/>
            <a:rect r="r" b="b" t="t" l="l"/>
            <a:pathLst>
              <a:path h="1190865" w="11077818">
                <a:moveTo>
                  <a:pt x="0" y="0"/>
                </a:moveTo>
                <a:lnTo>
                  <a:pt x="11077818" y="0"/>
                </a:lnTo>
                <a:lnTo>
                  <a:pt x="11077818" y="1190865"/>
                </a:lnTo>
                <a:lnTo>
                  <a:pt x="0" y="1190865"/>
                </a:lnTo>
                <a:lnTo>
                  <a:pt x="0" y="0"/>
                </a:lnTo>
                <a:close/>
              </a:path>
            </a:pathLst>
          </a:custGeom>
          <a:blipFill>
            <a:blip r:embed="rId4"/>
            <a:stretch>
              <a:fillRect l="0" t="0" r="0" b="0"/>
            </a:stretch>
          </a:blipFill>
        </p:spPr>
      </p:sp>
      <p:sp>
        <p:nvSpPr>
          <p:cNvPr name="TextBox 8" id="8"/>
          <p:cNvSpPr txBox="true"/>
          <p:nvPr/>
        </p:nvSpPr>
        <p:spPr>
          <a:xfrm rot="0">
            <a:off x="3036030" y="2490324"/>
            <a:ext cx="12215940" cy="1036320"/>
          </a:xfrm>
          <a:prstGeom prst="rect">
            <a:avLst/>
          </a:prstGeom>
        </p:spPr>
        <p:txBody>
          <a:bodyPr anchor="t" rtlCol="false" tIns="0" lIns="0" bIns="0" rIns="0">
            <a:spAutoFit/>
          </a:bodyPr>
          <a:lstStyle/>
          <a:p>
            <a:pPr algn="ctr">
              <a:lnSpc>
                <a:spcPts val="8189"/>
              </a:lnSpc>
            </a:pPr>
            <a:r>
              <a:rPr lang="en-US" sz="6999">
                <a:solidFill>
                  <a:srgbClr val="12356D"/>
                </a:solidFill>
                <a:latin typeface="Anton"/>
                <a:ea typeface="Anton"/>
                <a:cs typeface="Anton"/>
                <a:sym typeface="Anton"/>
              </a:rPr>
              <a:t>3-HEURISTIC AND ALGORITHM DESIGN</a:t>
            </a:r>
          </a:p>
        </p:txBody>
      </p:sp>
      <p:sp>
        <p:nvSpPr>
          <p:cNvPr name="TextBox 9" id="9"/>
          <p:cNvSpPr txBox="true"/>
          <p:nvPr/>
        </p:nvSpPr>
        <p:spPr>
          <a:xfrm rot="0">
            <a:off x="2108762" y="3621613"/>
            <a:ext cx="14070476"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Implementation of the Generalized A*Search Algorithm</a:t>
            </a:r>
          </a:p>
        </p:txBody>
      </p:sp>
      <p:sp>
        <p:nvSpPr>
          <p:cNvPr name="TextBox 10" id="10"/>
          <p:cNvSpPr txBox="true"/>
          <p:nvPr/>
        </p:nvSpPr>
        <p:spPr>
          <a:xfrm rot="0">
            <a:off x="341275" y="4316657"/>
            <a:ext cx="17643550" cy="3494239"/>
          </a:xfrm>
          <a:prstGeom prst="rect">
            <a:avLst/>
          </a:prstGeom>
        </p:spPr>
        <p:txBody>
          <a:bodyPr anchor="t" rtlCol="false" tIns="0" lIns="0" bIns="0" rIns="0">
            <a:spAutoFit/>
          </a:bodyPr>
          <a:lstStyle/>
          <a:p>
            <a:pPr algn="ctr">
              <a:lnSpc>
                <a:spcPts val="3919"/>
              </a:lnSpc>
            </a:pPr>
            <a:r>
              <a:rPr lang="en-US" sz="2799">
                <a:solidFill>
                  <a:srgbClr val="12356D"/>
                </a:solidFill>
                <a:latin typeface="Agrandir"/>
                <a:ea typeface="Agrandir"/>
                <a:cs typeface="Agrandir"/>
                <a:sym typeface="Agrandir"/>
              </a:rPr>
              <a:t>The Baseline (Uniform-Cost Search): Evaluates expanding nodes strictly based on the accumulated path cost g(n) (child-&gt;path_cost), searching blindly without direction.</a:t>
            </a:r>
          </a:p>
          <a:p>
            <a:pPr algn="ctr">
              <a:lnSpc>
                <a:spcPts val="3919"/>
              </a:lnSpc>
            </a:pPr>
            <a:r>
              <a:rPr lang="en-US" sz="2799">
                <a:solidFill>
                  <a:srgbClr val="12356D"/>
                </a:solidFill>
                <a:latin typeface="Agrandir"/>
                <a:ea typeface="Agrandir"/>
                <a:cs typeface="Agrandir"/>
                <a:sym typeface="Agrandir"/>
              </a:rPr>
              <a:t>The A Transformation:* Infuses the evaluation with a heuristic function h(n) (child-&gt;state.h_n), mathematically converting a blind search into a goal-directed optimization.</a:t>
            </a:r>
          </a:p>
          <a:p>
            <a:pPr algn="ctr">
              <a:lnSpc>
                <a:spcPts val="3919"/>
              </a:lnSpc>
            </a:pPr>
            <a:r>
              <a:rPr lang="en-US" sz="2799">
                <a:solidFill>
                  <a:srgbClr val="12356D"/>
                </a:solidFill>
                <a:latin typeface="Agrandir"/>
                <a:ea typeface="Agrandir"/>
                <a:cs typeface="Agrandir"/>
                <a:sym typeface="Agrandir"/>
              </a:rPr>
              <a:t>The Cost Function: Implemented via f(n) = g(n) + α * h(n) to dynamically balance path cost and heuristic weight, significantly reducing the generated nodes in memory.</a:t>
            </a:r>
          </a:p>
          <a:p>
            <a:pPr algn="ctr">
              <a:lnSpc>
                <a:spcPts val="3588"/>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485415" y="7513488"/>
            <a:ext cx="5317170" cy="2193332"/>
          </a:xfrm>
          <a:custGeom>
            <a:avLst/>
            <a:gdLst/>
            <a:ahLst/>
            <a:cxnLst/>
            <a:rect r="r" b="b" t="t" l="l"/>
            <a:pathLst>
              <a:path h="2193332" w="5317170">
                <a:moveTo>
                  <a:pt x="0" y="0"/>
                </a:moveTo>
                <a:lnTo>
                  <a:pt x="5317170" y="0"/>
                </a:lnTo>
                <a:lnTo>
                  <a:pt x="5317170" y="2193333"/>
                </a:lnTo>
                <a:lnTo>
                  <a:pt x="0" y="2193333"/>
                </a:lnTo>
                <a:lnTo>
                  <a:pt x="0" y="0"/>
                </a:lnTo>
                <a:close/>
              </a:path>
            </a:pathLst>
          </a:custGeom>
          <a:blipFill>
            <a:blip r:embed="rId3"/>
            <a:stretch>
              <a:fillRect l="0" t="0" r="0" b="0"/>
            </a:stretch>
          </a:blipFill>
        </p:spPr>
      </p:sp>
      <p:sp>
        <p:nvSpPr>
          <p:cNvPr name="TextBox 7" id="7"/>
          <p:cNvSpPr txBox="true"/>
          <p:nvPr/>
        </p:nvSpPr>
        <p:spPr>
          <a:xfrm rot="0">
            <a:off x="2108762" y="2934035"/>
            <a:ext cx="14070476"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Heuristic Function (h(n)) Selection and Admissibility Analysis</a:t>
            </a:r>
          </a:p>
        </p:txBody>
      </p:sp>
      <p:sp>
        <p:nvSpPr>
          <p:cNvPr name="TextBox 8" id="8"/>
          <p:cNvSpPr txBox="true"/>
          <p:nvPr/>
        </p:nvSpPr>
        <p:spPr>
          <a:xfrm rot="0">
            <a:off x="237902" y="3809281"/>
            <a:ext cx="18050098" cy="3275582"/>
          </a:xfrm>
          <a:prstGeom prst="rect">
            <a:avLst/>
          </a:prstGeom>
        </p:spPr>
        <p:txBody>
          <a:bodyPr anchor="t" rtlCol="false" tIns="0" lIns="0" bIns="0" rIns="0">
            <a:spAutoFit/>
          </a:bodyPr>
          <a:lstStyle/>
          <a:p>
            <a:pPr algn="ctr">
              <a:lnSpc>
                <a:spcPts val="4256"/>
              </a:lnSpc>
              <a:spcBef>
                <a:spcPct val="0"/>
              </a:spcBef>
            </a:pPr>
            <a:r>
              <a:rPr lang="en-US" b="true" sz="3040">
                <a:solidFill>
                  <a:srgbClr val="12356D"/>
                </a:solidFill>
                <a:latin typeface="Agrandir Bold"/>
                <a:ea typeface="Agrandir Bold"/>
                <a:cs typeface="Agrandir Bold"/>
                <a:sym typeface="Agrandir Bold"/>
              </a:rPr>
              <a:t>The Core Logic (General Approach):</a:t>
            </a:r>
            <a:r>
              <a:rPr lang="en-US" sz="3040">
                <a:solidFill>
                  <a:srgbClr val="12356D"/>
                </a:solidFill>
                <a:latin typeface="Agrandir"/>
                <a:ea typeface="Agrandir"/>
                <a:cs typeface="Agrandir"/>
                <a:sym typeface="Agrandir"/>
              </a:rPr>
              <a:t> * Simple approach: Just counting the number of misplaced disks.</a:t>
            </a:r>
          </a:p>
          <a:p>
            <a:pPr algn="ctr">
              <a:lnSpc>
                <a:spcPts val="4256"/>
              </a:lnSpc>
              <a:spcBef>
                <a:spcPct val="0"/>
              </a:spcBef>
            </a:pPr>
            <a:r>
              <a:rPr lang="en-US" b="true" sz="3040">
                <a:solidFill>
                  <a:srgbClr val="12356D"/>
                </a:solidFill>
                <a:latin typeface="Agrandir Bold"/>
                <a:ea typeface="Agrandir Bold"/>
                <a:cs typeface="Agrandir Bold"/>
                <a:sym typeface="Agrandir Bold"/>
              </a:rPr>
              <a:t>The Problem:</a:t>
            </a:r>
            <a:r>
              <a:rPr lang="en-US" sz="3040">
                <a:solidFill>
                  <a:srgbClr val="12356D"/>
                </a:solidFill>
                <a:latin typeface="Agrandir"/>
                <a:ea typeface="Agrandir"/>
                <a:cs typeface="Agrandir"/>
                <a:sym typeface="Agrandir"/>
              </a:rPr>
              <a:t> It ignores the sequential rules of the puzzle (e.g., small disks blocking larger ones).</a:t>
            </a:r>
          </a:p>
          <a:p>
            <a:pPr algn="ctr">
              <a:lnSpc>
                <a:spcPts val="4256"/>
              </a:lnSpc>
              <a:spcBef>
                <a:spcPct val="0"/>
              </a:spcBef>
            </a:pPr>
            <a:r>
              <a:rPr lang="en-US" b="true" sz="3040">
                <a:solidFill>
                  <a:srgbClr val="12356D"/>
                </a:solidFill>
                <a:latin typeface="Agrandir Bold"/>
                <a:ea typeface="Agrandir Bold"/>
                <a:cs typeface="Agrandir Bold"/>
                <a:sym typeface="Agrandir Bold"/>
              </a:rPr>
              <a:t>Our Implementation (SpecificToProblem.c):</a:t>
            </a:r>
          </a:p>
          <a:p>
            <a:pPr algn="ctr">
              <a:lnSpc>
                <a:spcPts val="4256"/>
              </a:lnSpc>
              <a:spcBef>
                <a:spcPct val="0"/>
              </a:spcBef>
            </a:pPr>
            <a:r>
              <a:rPr lang="en-US" sz="3040">
                <a:solidFill>
                  <a:srgbClr val="12356D"/>
                </a:solidFill>
                <a:latin typeface="Agrandir"/>
                <a:ea typeface="Agrandir"/>
                <a:cs typeface="Agrandir"/>
                <a:sym typeface="Agrandir"/>
              </a:rPr>
              <a:t>Uses a bitwise weight distribution to reflect real physical constraints.</a:t>
            </a:r>
          </a:p>
          <a:p>
            <a:pPr algn="ctr">
              <a:lnSpc>
                <a:spcPts val="4256"/>
              </a:lnSpc>
              <a:spcBef>
                <a:spcPct val="0"/>
              </a:spcBef>
            </a:pPr>
            <a:r>
              <a:rPr lang="en-US" sz="3040">
                <a:solidFill>
                  <a:srgbClr val="12356D"/>
                </a:solidFill>
                <a:latin typeface="Agrandir"/>
                <a:ea typeface="Agrandir"/>
                <a:cs typeface="Agrandir"/>
                <a:sym typeface="Agrandir"/>
              </a:rPr>
              <a:t>Every misplaced disk i adds an exponential penalty of 2^i to the total cost.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741259" y="2450723"/>
            <a:ext cx="15150538"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Admissibility Analysis</a:t>
            </a:r>
          </a:p>
        </p:txBody>
      </p:sp>
      <p:sp>
        <p:nvSpPr>
          <p:cNvPr name="TextBox 7" id="7"/>
          <p:cNvSpPr txBox="true"/>
          <p:nvPr/>
        </p:nvSpPr>
        <p:spPr>
          <a:xfrm rot="0">
            <a:off x="345057" y="3757295"/>
            <a:ext cx="17942943" cy="5501005"/>
          </a:xfrm>
          <a:prstGeom prst="rect">
            <a:avLst/>
          </a:prstGeom>
        </p:spPr>
        <p:txBody>
          <a:bodyPr anchor="t" rtlCol="false" tIns="0" lIns="0" bIns="0" rIns="0">
            <a:spAutoFit/>
          </a:bodyPr>
          <a:lstStyle/>
          <a:p>
            <a:pPr algn="ctr">
              <a:lnSpc>
                <a:spcPts val="3920"/>
              </a:lnSpc>
              <a:spcBef>
                <a:spcPct val="0"/>
              </a:spcBef>
            </a:pPr>
            <a:r>
              <a:rPr lang="en-US" b="true" sz="2800">
                <a:solidFill>
                  <a:srgbClr val="12356D"/>
                </a:solidFill>
                <a:latin typeface="Agrandir Bold"/>
                <a:ea typeface="Agrandir Bold"/>
                <a:cs typeface="Agrandir Bold"/>
                <a:sym typeface="Agrandir Bold"/>
              </a:rPr>
              <a:t>The Golden Rule of A* (h(n) &lt;=h*(n)):</a:t>
            </a:r>
          </a:p>
          <a:p>
            <a:pPr algn="ctr">
              <a:lnSpc>
                <a:spcPts val="3920"/>
              </a:lnSpc>
              <a:spcBef>
                <a:spcPct val="0"/>
              </a:spcBef>
            </a:pPr>
            <a:r>
              <a:rPr lang="en-US" sz="2800">
                <a:solidFill>
                  <a:srgbClr val="12356D"/>
                </a:solidFill>
                <a:latin typeface="Agrandir"/>
                <a:ea typeface="Agrandir"/>
                <a:cs typeface="Agrandir"/>
                <a:sym typeface="Agrandir"/>
              </a:rPr>
              <a:t>A heuristic is strictly admissible if it never overestimates the actual remaining cost to reach the goal.</a:t>
            </a:r>
          </a:p>
          <a:p>
            <a:pPr algn="ctr">
              <a:lnSpc>
                <a:spcPts val="3920"/>
              </a:lnSpc>
              <a:spcBef>
                <a:spcPct val="0"/>
              </a:spcBef>
            </a:pPr>
            <a:r>
              <a:rPr lang="en-US" sz="2800">
                <a:solidFill>
                  <a:srgbClr val="12356D"/>
                </a:solidFill>
                <a:latin typeface="Agrandir"/>
                <a:ea typeface="Agrandir"/>
                <a:cs typeface="Agrandir"/>
                <a:sym typeface="Agrandir"/>
              </a:rPr>
              <a:t>Admissibility guarantees that Generalized A* will always find the globally optimal path.</a:t>
            </a:r>
          </a:p>
          <a:p>
            <a:pPr algn="ctr">
              <a:lnSpc>
                <a:spcPts val="3920"/>
              </a:lnSpc>
              <a:spcBef>
                <a:spcPct val="0"/>
              </a:spcBef>
            </a:pPr>
            <a:r>
              <a:rPr lang="en-US" b="true" sz="2800">
                <a:solidFill>
                  <a:srgbClr val="12356D"/>
                </a:solidFill>
                <a:latin typeface="Agrandir Bold"/>
                <a:ea typeface="Agrandir Bold"/>
                <a:cs typeface="Agrandir Bold"/>
                <a:sym typeface="Agrandir Bold"/>
              </a:rPr>
              <a:t>The Physical Proof (Structural Recursion):</a:t>
            </a:r>
          </a:p>
          <a:p>
            <a:pPr algn="ctr">
              <a:lnSpc>
                <a:spcPts val="3920"/>
              </a:lnSpc>
              <a:spcBef>
                <a:spcPct val="0"/>
              </a:spcBef>
            </a:pPr>
            <a:r>
              <a:rPr lang="en-US" sz="2800">
                <a:solidFill>
                  <a:srgbClr val="12356D"/>
                </a:solidFill>
                <a:latin typeface="Agrandir"/>
                <a:ea typeface="Agrandir"/>
                <a:cs typeface="Agrandir"/>
                <a:sym typeface="Agrandir"/>
              </a:rPr>
              <a:t>To legally move any disk i to the destination peg:</a:t>
            </a:r>
          </a:p>
          <a:p>
            <a:pPr algn="ctr">
              <a:lnSpc>
                <a:spcPts val="3920"/>
              </a:lnSpc>
              <a:spcBef>
                <a:spcPct val="0"/>
              </a:spcBef>
            </a:pPr>
            <a:r>
              <a:rPr lang="en-US" sz="2800">
                <a:solidFill>
                  <a:srgbClr val="12356D"/>
                </a:solidFill>
                <a:latin typeface="Agrandir"/>
                <a:ea typeface="Agrandir"/>
                <a:cs typeface="Agrandir"/>
                <a:sym typeface="Agrandir"/>
              </a:rPr>
              <a:t>All smaller disks (0 to i-1) must first be cleared and stacked on the auxiliary peg.</a:t>
            </a:r>
          </a:p>
          <a:p>
            <a:pPr algn="ctr">
              <a:lnSpc>
                <a:spcPts val="3920"/>
              </a:lnSpc>
              <a:spcBef>
                <a:spcPct val="0"/>
              </a:spcBef>
            </a:pPr>
            <a:r>
              <a:rPr lang="en-US" b="true" sz="2800">
                <a:solidFill>
                  <a:srgbClr val="12356D"/>
                </a:solidFill>
                <a:latin typeface="Agrandir Bold"/>
                <a:ea typeface="Agrandir Bold"/>
                <a:cs typeface="Agrandir Bold"/>
                <a:sym typeface="Agrandir Bold"/>
              </a:rPr>
              <a:t>Why h(n) is "Optimistic":</a:t>
            </a:r>
          </a:p>
          <a:p>
            <a:pPr algn="ctr">
              <a:lnSpc>
                <a:spcPts val="3920"/>
              </a:lnSpc>
              <a:spcBef>
                <a:spcPct val="0"/>
              </a:spcBef>
            </a:pPr>
            <a:r>
              <a:rPr lang="en-US" sz="2800">
                <a:solidFill>
                  <a:srgbClr val="12356D"/>
                </a:solidFill>
                <a:latin typeface="Agrandir"/>
                <a:ea typeface="Agrandir"/>
                <a:cs typeface="Agrandir"/>
                <a:sym typeface="Agrandir"/>
              </a:rPr>
              <a:t>This recursive bottleneck guarantees that the true minimum actions required (h*(n)) will always match or exceed our geometric calculation (2^i).</a:t>
            </a:r>
          </a:p>
          <a:p>
            <a:pPr algn="ctr">
              <a:lnSpc>
                <a:spcPts val="3920"/>
              </a:lnSpc>
              <a:spcBef>
                <a:spcPct val="0"/>
              </a:spcBef>
            </a:pPr>
            <a:r>
              <a:rPr lang="en-US" sz="2800">
                <a:solidFill>
                  <a:srgbClr val="12356D"/>
                </a:solidFill>
                <a:latin typeface="Agrandir"/>
                <a:ea typeface="Agrandir"/>
                <a:cs typeface="Agrandir"/>
                <a:sym typeface="Agrandir"/>
              </a:rPr>
              <a:t>Since our code is mathematically optimistic, it </a:t>
            </a:r>
            <a:r>
              <a:rPr lang="en-US" sz="2800" i="true">
                <a:solidFill>
                  <a:srgbClr val="12356D"/>
                </a:solidFill>
                <a:latin typeface="Agrandir Italics"/>
                <a:ea typeface="Agrandir Italics"/>
                <a:cs typeface="Agrandir Italics"/>
                <a:sym typeface="Agrandir Italics"/>
              </a:rPr>
              <a:t>never overestimates the real effort.</a:t>
            </a:r>
          </a:p>
          <a:p>
            <a:pPr algn="ctr">
              <a:lnSpc>
                <a:spcPts val="3920"/>
              </a:lnSpc>
              <a:spcBef>
                <a:spcPct val="0"/>
              </a:spcBef>
            </a:pPr>
            <a:r>
              <a:rPr lang="en-US" b="true" sz="2800">
                <a:solidFill>
                  <a:srgbClr val="12356D"/>
                </a:solidFill>
                <a:latin typeface="Agrandir Bold"/>
                <a:ea typeface="Agrandir Bold"/>
                <a:cs typeface="Agrandir Bold"/>
                <a:sym typeface="Agrandir Bold"/>
              </a:rPr>
              <a:t>Conclusion: </a:t>
            </a:r>
            <a:r>
              <a:rPr lang="en-US" sz="2800">
                <a:solidFill>
                  <a:srgbClr val="12356D"/>
                </a:solidFill>
                <a:latin typeface="Agrandir"/>
                <a:ea typeface="Agrandir"/>
                <a:cs typeface="Agrandir"/>
                <a:sym typeface="Agrandir"/>
              </a:rPr>
              <a:t>h(n) is strictly admissible --&gt; The solution is globally optimal.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71252" y="4051897"/>
            <a:ext cx="18216748" cy="5381773"/>
          </a:xfrm>
          <a:prstGeom prst="rect">
            <a:avLst/>
          </a:prstGeom>
        </p:spPr>
        <p:txBody>
          <a:bodyPr anchor="t" rtlCol="false" tIns="0" lIns="0" bIns="0" rIns="0">
            <a:spAutoFit/>
          </a:bodyPr>
          <a:lstStyle/>
          <a:p>
            <a:pPr algn="ctr" marL="647700" indent="-323850" lvl="1">
              <a:lnSpc>
                <a:spcPts val="4200"/>
              </a:lnSpc>
              <a:buFont typeface="Arial"/>
              <a:buChar char="•"/>
            </a:pPr>
            <a:r>
              <a:rPr lang="en-US" sz="3000">
                <a:solidFill>
                  <a:srgbClr val="12356D"/>
                </a:solidFill>
                <a:latin typeface="Agrandir"/>
                <a:ea typeface="Agrandir"/>
                <a:cs typeface="Agrandir"/>
                <a:sym typeface="Agrandir"/>
              </a:rPr>
              <a:t>Legacy Architecture: The original codebase was designed for geographic pathfinding, identifying states using simple city integer indices.</a:t>
            </a:r>
          </a:p>
          <a:p>
            <a:pPr algn="ctr" marL="647700" indent="-323850" lvl="1">
              <a:lnSpc>
                <a:spcPts val="4200"/>
              </a:lnSpc>
              <a:buFont typeface="Arial"/>
              <a:buChar char="•"/>
            </a:pPr>
            <a:r>
              <a:rPr lang="en-US" sz="3000">
                <a:solidFill>
                  <a:srgbClr val="12356D"/>
                </a:solidFill>
                <a:latin typeface="Agrandir"/>
                <a:ea typeface="Agrandir"/>
                <a:cs typeface="Agrandir"/>
                <a:sym typeface="Agrandir"/>
              </a:rPr>
              <a:t>Adapting to Hanoi Towers: We restructured HashTable.c, specifically the Generate_HashTable_Key function, to capture the complex layout of multiple disks across pegs.</a:t>
            </a:r>
          </a:p>
          <a:p>
            <a:pPr algn="ctr" marL="647700" indent="-323850" lvl="1">
              <a:lnSpc>
                <a:spcPts val="4200"/>
              </a:lnSpc>
              <a:buFont typeface="Arial"/>
              <a:buChar char="•"/>
            </a:pPr>
            <a:r>
              <a:rPr lang="en-US" sz="3000">
                <a:solidFill>
                  <a:srgbClr val="12356D"/>
                </a:solidFill>
                <a:latin typeface="Agrandir"/>
                <a:ea typeface="Agrandir"/>
                <a:cs typeface="Agrandir"/>
                <a:sym typeface="Agrandir"/>
              </a:rPr>
              <a:t>Dynamic Key Generation: A new loop iterates through state-&gt;num_disks, converting each disk's specific position into a character sequence to form a null-terminated string.</a:t>
            </a:r>
          </a:p>
          <a:p>
            <a:pPr algn="ctr" marL="647700" indent="-323850" lvl="1">
              <a:lnSpc>
                <a:spcPts val="4200"/>
              </a:lnSpc>
              <a:buFont typeface="Arial"/>
              <a:buChar char="•"/>
            </a:pPr>
            <a:r>
              <a:rPr lang="en-US" sz="3000">
                <a:solidFill>
                  <a:srgbClr val="12356D"/>
                </a:solidFill>
                <a:latin typeface="Agrandir"/>
                <a:ea typeface="Agrandir"/>
                <a:cs typeface="Agrandir"/>
                <a:sym typeface="Agrandir"/>
              </a:rPr>
              <a:t>Cyclical Path Pruning: This guarantees a unique hash key for every disk permutation, allowing the explorer_set to accurately track visited states and prevent infinite loops during search.</a:t>
            </a:r>
          </a:p>
          <a:p>
            <a:pPr algn="ctr">
              <a:lnSpc>
                <a:spcPts val="4183"/>
              </a:lnSpc>
            </a:pPr>
          </a:p>
          <a:p>
            <a:pPr algn="ctr">
              <a:lnSpc>
                <a:spcPts val="4183"/>
              </a:lnSpc>
              <a:spcBef>
                <a:spcPct val="0"/>
              </a:spcBef>
            </a:pPr>
          </a:p>
        </p:txBody>
      </p:sp>
      <p:sp>
        <p:nvSpPr>
          <p:cNvPr name="TextBox 7" id="7"/>
          <p:cNvSpPr txBox="true"/>
          <p:nvPr/>
        </p:nvSpPr>
        <p:spPr>
          <a:xfrm rot="0">
            <a:off x="2108762" y="2956785"/>
            <a:ext cx="14070476"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Code Architecture and Modified Source Files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108762" y="3670300"/>
            <a:ext cx="15150538" cy="2622550"/>
          </a:xfrm>
          <a:prstGeom prst="rect">
            <a:avLst/>
          </a:prstGeom>
        </p:spPr>
        <p:txBody>
          <a:bodyPr anchor="t" rtlCol="false" tIns="0" lIns="0" bIns="0" rIns="0">
            <a:spAutoFit/>
          </a:bodyPr>
          <a:lstStyle/>
          <a:p>
            <a:pPr algn="ctr">
              <a:lnSpc>
                <a:spcPts val="9799"/>
              </a:lnSpc>
              <a:spcBef>
                <a:spcPct val="0"/>
              </a:spcBef>
            </a:pPr>
            <a:r>
              <a:rPr lang="en-US" b="true" sz="6999">
                <a:solidFill>
                  <a:srgbClr val="12356D"/>
                </a:solidFill>
                <a:latin typeface="Agrandir Bold"/>
                <a:ea typeface="Agrandir Bold"/>
                <a:cs typeface="Agrandir Bold"/>
                <a:sym typeface="Agrandir Bold"/>
              </a:rPr>
              <a:t>4.SIMULATION RESULTS AND PERFORMANCE ANALYSIS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6" id="6"/>
          <p:cNvGraphicFramePr>
            <a:graphicFrameLocks noGrp="true"/>
          </p:cNvGraphicFramePr>
          <p:nvPr/>
        </p:nvGraphicFramePr>
        <p:xfrm>
          <a:off x="1759152" y="4462077"/>
          <a:ext cx="15287129" cy="4629150"/>
        </p:xfrm>
        <a:graphic>
          <a:graphicData uri="http://schemas.openxmlformats.org/drawingml/2006/table">
            <a:tbl>
              <a:tblPr/>
              <a:tblGrid>
                <a:gridCol w="3057426"/>
                <a:gridCol w="3057426"/>
                <a:gridCol w="3057426"/>
                <a:gridCol w="3057426"/>
                <a:gridCol w="3057426"/>
              </a:tblGrid>
              <a:tr h="1546251">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PROBLEM SIZE(NUMBER OF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b="true" sz="2000" strike="noStrike" u="none">
                          <a:solidFill>
                            <a:srgbClr val="000000"/>
                          </a:solidFill>
                          <a:latin typeface="Arimo Bold"/>
                          <a:ea typeface="Arimo Bold"/>
                          <a:cs typeface="Arimo Bold"/>
                          <a:sym typeface="Arimo Bold"/>
                        </a:rPr>
                        <a:t>OPTIMAL PATH COST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SEARCHED NODES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b="true" sz="1999">
                          <a:solidFill>
                            <a:srgbClr val="000000"/>
                          </a:solidFill>
                          <a:latin typeface="Canva Sans Bold"/>
                          <a:ea typeface="Canva Sans Bold"/>
                          <a:cs typeface="Canva Sans Bold"/>
                          <a:sym typeface="Canva Sans Bold"/>
                        </a:rPr>
                        <a:t>GENERATED NODES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Arimo Bold"/>
                          <a:ea typeface="Arimo Bold"/>
                          <a:cs typeface="Arimo Bold"/>
                          <a:sym typeface="Arimo Bold"/>
                        </a:rPr>
                        <a:t>COMPUTATIONAL EXECUATION TIME</a:t>
                      </a:r>
                      <a:endParaRPr lang="en-US" sz="1100"/>
                    </a:p>
                    <a:p>
                      <a:pPr algn="ctr">
                        <a:lnSpc>
                          <a:spcPts val="2800"/>
                        </a:lnSpc>
                      </a:pPr>
                      <a:r>
                        <a:rPr lang="en-US" sz="2000" b="true">
                          <a:solidFill>
                            <a:srgbClr val="000000"/>
                          </a:solidFill>
                          <a:latin typeface="Arimo Bold"/>
                          <a:ea typeface="Arimo Bold"/>
                          <a:cs typeface="Arimo Bold"/>
                          <a:sym typeface="Arimo Bold"/>
                        </a:rPr>
                        <a:t>(ms)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633">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3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 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633">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5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31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233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617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22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7633">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9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511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19513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57257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516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2108762" y="2886410"/>
            <a:ext cx="15150538" cy="793750"/>
          </a:xfrm>
          <a:prstGeom prst="rect">
            <a:avLst/>
          </a:prstGeom>
        </p:spPr>
        <p:txBody>
          <a:bodyPr anchor="t" rtlCol="false" tIns="0" lIns="0" bIns="0" rIns="0">
            <a:spAutoFit/>
          </a:bodyPr>
          <a:lstStyle/>
          <a:p>
            <a:pPr algn="ctr">
              <a:lnSpc>
                <a:spcPts val="5599"/>
              </a:lnSpc>
              <a:spcBef>
                <a:spcPct val="0"/>
              </a:spcBef>
            </a:pPr>
            <a:r>
              <a:rPr lang="en-US" b="true" sz="3999">
                <a:solidFill>
                  <a:srgbClr val="12356D"/>
                </a:solidFill>
                <a:latin typeface="Agrandir Bold"/>
                <a:ea typeface="Agrandir Bold"/>
                <a:cs typeface="Agrandir Bold"/>
                <a:sym typeface="Agrandir Bold"/>
              </a:rPr>
              <a:t>Quantitative Evaluation and Simulation Metrics Table</a:t>
            </a:r>
          </a:p>
        </p:txBody>
      </p:sp>
      <p:sp>
        <p:nvSpPr>
          <p:cNvPr name="TextBox 8" id="8"/>
          <p:cNvSpPr txBox="true"/>
          <p:nvPr/>
        </p:nvSpPr>
        <p:spPr>
          <a:xfrm rot="0">
            <a:off x="931594" y="9464859"/>
            <a:ext cx="8141643" cy="514350"/>
          </a:xfrm>
          <a:prstGeom prst="rect">
            <a:avLst/>
          </a:prstGeom>
        </p:spPr>
        <p:txBody>
          <a:bodyPr anchor="t" rtlCol="false" tIns="0" lIns="0" bIns="0" rIns="0">
            <a:spAutoFit/>
          </a:bodyPr>
          <a:lstStyle/>
          <a:p>
            <a:pPr algn="ctr">
              <a:lnSpc>
                <a:spcPts val="4200"/>
              </a:lnSpc>
              <a:spcBef>
                <a:spcPct val="0"/>
              </a:spcBef>
            </a:pPr>
            <a:r>
              <a:rPr lang="en-US" sz="3000">
                <a:solidFill>
                  <a:srgbClr val="12356D"/>
                </a:solidFill>
                <a:latin typeface="Canva Sans"/>
                <a:ea typeface="Canva Sans"/>
                <a:cs typeface="Canva Sans"/>
                <a:sym typeface="Canva Sans"/>
              </a:rPr>
              <a:t>Table 1: Results in </a:t>
            </a:r>
            <a:r>
              <a:rPr lang="en-US" b="true" sz="3000" u="sng">
                <a:solidFill>
                  <a:srgbClr val="12356D"/>
                </a:solidFill>
                <a:latin typeface="Canva Sans Bold"/>
                <a:ea typeface="Canva Sans Bold"/>
                <a:cs typeface="Canva Sans Bold"/>
                <a:sym typeface="Canva Sans Bold"/>
              </a:rPr>
              <a:t>Breadth First Search(BFS)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609702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6" id="6"/>
          <p:cNvGraphicFramePr>
            <a:graphicFrameLocks noGrp="true"/>
          </p:cNvGraphicFramePr>
          <p:nvPr/>
        </p:nvGraphicFramePr>
        <p:xfrm>
          <a:off x="1642099" y="2527868"/>
          <a:ext cx="15287129" cy="6972300"/>
        </p:xfrm>
        <a:graphic>
          <a:graphicData uri="http://schemas.openxmlformats.org/drawingml/2006/table">
            <a:tbl>
              <a:tblPr/>
              <a:tblGrid>
                <a:gridCol w="3057426"/>
                <a:gridCol w="3057426"/>
                <a:gridCol w="3057426"/>
                <a:gridCol w="3057426"/>
                <a:gridCol w="3057426"/>
              </a:tblGrid>
              <a:tr h="1541951">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PROBLEM SIZE(NUMBER OF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b="true" sz="2000" strike="noStrike" u="none">
                          <a:solidFill>
                            <a:srgbClr val="000000"/>
                          </a:solidFill>
                          <a:latin typeface="Arimo Bold"/>
                          <a:ea typeface="Arimo Bold"/>
                          <a:cs typeface="Arimo Bold"/>
                          <a:sym typeface="Arimo Bold"/>
                        </a:rPr>
                        <a:t>OPTIMAL PATH COST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SEARCHED NODES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b="true" sz="1999">
                          <a:solidFill>
                            <a:srgbClr val="000000"/>
                          </a:solidFill>
                          <a:latin typeface="Canva Sans Bold"/>
                          <a:ea typeface="Canva Sans Bold"/>
                          <a:cs typeface="Canva Sans Bold"/>
                          <a:sym typeface="Canva Sans Bold"/>
                        </a:rPr>
                        <a:t>GENERATED NODES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Arimo Bold"/>
                          <a:ea typeface="Arimo Bold"/>
                          <a:cs typeface="Arimo Bold"/>
                          <a:sym typeface="Arimo Bold"/>
                        </a:rPr>
                        <a:t>COMPUTATIONAL EXECUATION TIME</a:t>
                      </a:r>
                      <a:endParaRPr lang="en-US" sz="1100"/>
                    </a:p>
                    <a:p>
                      <a:pPr algn="ctr">
                        <a:lnSpc>
                          <a:spcPts val="2800"/>
                        </a:lnSpc>
                      </a:pPr>
                      <a:r>
                        <a:rPr lang="en-US" sz="2000" b="true">
                          <a:solidFill>
                            <a:srgbClr val="000000"/>
                          </a:solidFill>
                          <a:latin typeface="Arimo Bold"/>
                          <a:ea typeface="Arimo Bold"/>
                          <a:cs typeface="Arimo Bold"/>
                          <a:sym typeface="Arimo Bold"/>
                        </a:rPr>
                        <a:t>(ms)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10116">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3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 →7</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 .5→7</a:t>
                      </a:r>
                    </a:p>
                    <a:p>
                      <a:pPr algn="ctr">
                        <a:lnSpc>
                          <a:spcPts val="2659"/>
                        </a:lnSpc>
                      </a:pPr>
                      <a:r>
                        <a:rPr lang="en-US" sz="1899" b="true">
                          <a:solidFill>
                            <a:srgbClr val="000000"/>
                          </a:solidFill>
                          <a:latin typeface="Canva Sans Bold"/>
                          <a:ea typeface="Canva Sans Bold"/>
                          <a:cs typeface="Canva Sans Bold"/>
                          <a:sym typeface="Canva Sans Bold"/>
                        </a:rPr>
                        <a:t>alpha=1→7</a:t>
                      </a:r>
                    </a:p>
                    <a:p>
                      <a:pPr algn="ctr">
                        <a:lnSpc>
                          <a:spcPts val="2659"/>
                        </a:lnSpc>
                      </a:pPr>
                      <a:r>
                        <a:rPr lang="en-US" sz="1899" b="true">
                          <a:solidFill>
                            <a:srgbClr val="000000"/>
                          </a:solidFill>
                          <a:latin typeface="Canva Sans Bold"/>
                          <a:ea typeface="Canva Sans Bold"/>
                          <a:cs typeface="Canva Sans Bold"/>
                          <a:sym typeface="Canva Sans Bold"/>
                        </a:rPr>
                        <a:t>alpha=5→7</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 → 25</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alpha=0.5→16</a:t>
                      </a:r>
                    </a:p>
                    <a:p>
                      <a:pPr algn="ctr">
                        <a:lnSpc>
                          <a:spcPts val="2659"/>
                        </a:lnSpc>
                      </a:pPr>
                      <a:r>
                        <a:rPr lang="en-US" sz="1899" b="true">
                          <a:solidFill>
                            <a:srgbClr val="000000"/>
                          </a:solidFill>
                          <a:latin typeface="Canva Sans Bold"/>
                          <a:ea typeface="Canva Sans Bold"/>
                          <a:cs typeface="Canva Sans Bold"/>
                          <a:sym typeface="Canva Sans Bold"/>
                        </a:rPr>
                        <a:t>alpha=1→15</a:t>
                      </a:r>
                    </a:p>
                    <a:p>
                      <a:pPr algn="ctr">
                        <a:lnSpc>
                          <a:spcPts val="2659"/>
                        </a:lnSpc>
                      </a:pPr>
                      <a:r>
                        <a:rPr lang="en-US" sz="1899" b="true">
                          <a:solidFill>
                            <a:srgbClr val="000000"/>
                          </a:solidFill>
                          <a:latin typeface="Canva Sans Bold"/>
                          <a:ea typeface="Canva Sans Bold"/>
                          <a:cs typeface="Canva Sans Bold"/>
                          <a:sym typeface="Canva Sans Bold"/>
                        </a:rPr>
                        <a:t>alpha=5→18</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 71</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alpha=0.5→45</a:t>
                      </a:r>
                    </a:p>
                    <a:p>
                      <a:pPr algn="ctr">
                        <a:lnSpc>
                          <a:spcPts val="2659"/>
                        </a:lnSpc>
                      </a:pPr>
                      <a:r>
                        <a:rPr lang="en-US" sz="1899" b="true">
                          <a:solidFill>
                            <a:srgbClr val="000000"/>
                          </a:solidFill>
                          <a:latin typeface="Canva Sans Bold"/>
                          <a:ea typeface="Canva Sans Bold"/>
                          <a:cs typeface="Canva Sans Bold"/>
                          <a:sym typeface="Canva Sans Bold"/>
                        </a:rPr>
                        <a:t>alpha=1→42</a:t>
                      </a:r>
                    </a:p>
                    <a:p>
                      <a:pPr algn="ctr">
                        <a:lnSpc>
                          <a:spcPts val="2659"/>
                        </a:lnSpc>
                      </a:pPr>
                      <a:r>
                        <a:rPr lang="en-US" sz="1899" b="true">
                          <a:solidFill>
                            <a:srgbClr val="000000"/>
                          </a:solidFill>
                          <a:latin typeface="Canva Sans Bold"/>
                          <a:ea typeface="Canva Sans Bold"/>
                          <a:cs typeface="Canva Sans Bold"/>
                          <a:sym typeface="Canva Sans Bold"/>
                        </a:rPr>
                        <a:t>alpha=5→51</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 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10116">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5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alpha=0→31</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alpha=0.5→31</a:t>
                      </a:r>
                    </a:p>
                    <a:p>
                      <a:pPr algn="ctr">
                        <a:lnSpc>
                          <a:spcPts val="2659"/>
                        </a:lnSpc>
                      </a:pPr>
                      <a:r>
                        <a:rPr lang="en-US" sz="1899" b="true">
                          <a:solidFill>
                            <a:srgbClr val="000000"/>
                          </a:solidFill>
                          <a:latin typeface="Canva Sans Bold"/>
                          <a:ea typeface="Canva Sans Bold"/>
                          <a:cs typeface="Canva Sans Bold"/>
                          <a:sym typeface="Canva Sans Bold"/>
                        </a:rPr>
                        <a:t>alpha=1→31</a:t>
                      </a:r>
                    </a:p>
                    <a:p>
                      <a:pPr algn="ctr">
                        <a:lnSpc>
                          <a:spcPts val="2659"/>
                        </a:lnSpc>
                      </a:pPr>
                      <a:r>
                        <a:rPr lang="en-US" sz="1899" b="true">
                          <a:solidFill>
                            <a:srgbClr val="000000"/>
                          </a:solidFill>
                          <a:latin typeface="Canva Sans Bold"/>
                          <a:ea typeface="Canva Sans Bold"/>
                          <a:cs typeface="Canva Sans Bold"/>
                          <a:sym typeface="Canva Sans Bold"/>
                        </a:rPr>
                        <a:t>alpha=5→31</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alpha=0→233</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alpha=0.5→136</a:t>
                      </a:r>
                    </a:p>
                    <a:p>
                      <a:pPr algn="ctr">
                        <a:lnSpc>
                          <a:spcPts val="2659"/>
                        </a:lnSpc>
                      </a:pPr>
                      <a:r>
                        <a:rPr lang="en-US" sz="1899" b="true">
                          <a:solidFill>
                            <a:srgbClr val="000000"/>
                          </a:solidFill>
                          <a:latin typeface="Canva Sans Bold"/>
                          <a:ea typeface="Canva Sans Bold"/>
                          <a:cs typeface="Canva Sans Bold"/>
                          <a:sym typeface="Canva Sans Bold"/>
                        </a:rPr>
                        <a:t>alpha=1→153</a:t>
                      </a:r>
                    </a:p>
                    <a:p>
                      <a:pPr algn="ctr">
                        <a:lnSpc>
                          <a:spcPts val="2659"/>
                        </a:lnSpc>
                      </a:pPr>
                      <a:r>
                        <a:rPr lang="en-US" sz="1899" b="true">
                          <a:solidFill>
                            <a:srgbClr val="000000"/>
                          </a:solidFill>
                          <a:latin typeface="Canva Sans Bold"/>
                          <a:ea typeface="Canva Sans Bold"/>
                          <a:cs typeface="Canva Sans Bold"/>
                          <a:sym typeface="Canva Sans Bold"/>
                        </a:rPr>
                        <a:t>alpha=5→162</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alpha=0→695</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alpha=0.5→405</a:t>
                      </a:r>
                    </a:p>
                    <a:p>
                      <a:pPr algn="ctr">
                        <a:lnSpc>
                          <a:spcPts val="2659"/>
                        </a:lnSpc>
                      </a:pPr>
                      <a:r>
                        <a:rPr lang="en-US" sz="1899" b="true">
                          <a:solidFill>
                            <a:srgbClr val="000000"/>
                          </a:solidFill>
                          <a:latin typeface="Canva Sans Bold"/>
                          <a:ea typeface="Canva Sans Bold"/>
                          <a:cs typeface="Canva Sans Bold"/>
                          <a:sym typeface="Canva Sans Bold"/>
                        </a:rPr>
                        <a:t>alpha=1→456</a:t>
                      </a:r>
                    </a:p>
                    <a:p>
                      <a:pPr algn="ctr">
                        <a:lnSpc>
                          <a:spcPts val="2659"/>
                        </a:lnSpc>
                      </a:pPr>
                      <a:r>
                        <a:rPr lang="en-US" sz="1899" b="true">
                          <a:solidFill>
                            <a:srgbClr val="000000"/>
                          </a:solidFill>
                          <a:latin typeface="Canva Sans Bold"/>
                          <a:ea typeface="Canva Sans Bold"/>
                          <a:cs typeface="Canva Sans Bold"/>
                          <a:sym typeface="Canva Sans Bold"/>
                        </a:rPr>
                        <a:t>alpha=5→483</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alpha=0→13,7</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alpha=0.5→26</a:t>
                      </a:r>
                    </a:p>
                    <a:p>
                      <a:pPr algn="ctr">
                        <a:lnSpc>
                          <a:spcPts val="2659"/>
                        </a:lnSpc>
                      </a:pPr>
                      <a:r>
                        <a:rPr lang="en-US" sz="1899" b="true">
                          <a:solidFill>
                            <a:srgbClr val="000000"/>
                          </a:solidFill>
                          <a:latin typeface="Canva Sans Bold"/>
                          <a:ea typeface="Canva Sans Bold"/>
                          <a:cs typeface="Canva Sans Bold"/>
                          <a:sym typeface="Canva Sans Bold"/>
                        </a:rPr>
                        <a:t>alpha=1→19</a:t>
                      </a:r>
                    </a:p>
                    <a:p>
                      <a:pPr algn="ctr">
                        <a:lnSpc>
                          <a:spcPts val="2659"/>
                        </a:lnSpc>
                      </a:pPr>
                      <a:r>
                        <a:rPr lang="en-US" sz="1899" b="true">
                          <a:solidFill>
                            <a:srgbClr val="000000"/>
                          </a:solidFill>
                          <a:latin typeface="Canva Sans Bold"/>
                          <a:ea typeface="Canva Sans Bold"/>
                          <a:cs typeface="Canva Sans Bold"/>
                          <a:sym typeface="Canva Sans Bold"/>
                        </a:rPr>
                        <a:t>alpha=5→17,2</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10116">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9 DISKS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alpha=0→511</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alpha=0.5→511</a:t>
                      </a:r>
                    </a:p>
                    <a:p>
                      <a:pPr algn="ctr">
                        <a:lnSpc>
                          <a:spcPts val="2659"/>
                        </a:lnSpc>
                      </a:pPr>
                      <a:r>
                        <a:rPr lang="en-US" sz="1899" b="true">
                          <a:solidFill>
                            <a:srgbClr val="000000"/>
                          </a:solidFill>
                          <a:latin typeface="Canva Sans Bold"/>
                          <a:ea typeface="Canva Sans Bold"/>
                          <a:cs typeface="Canva Sans Bold"/>
                          <a:sym typeface="Canva Sans Bold"/>
                        </a:rPr>
                        <a:t>alpha=1→511</a:t>
                      </a:r>
                    </a:p>
                    <a:p>
                      <a:pPr algn="ctr">
                        <a:lnSpc>
                          <a:spcPts val="2659"/>
                        </a:lnSpc>
                      </a:pPr>
                      <a:r>
                        <a:rPr lang="en-US" sz="1899" b="true">
                          <a:solidFill>
                            <a:srgbClr val="000000"/>
                          </a:solidFill>
                          <a:latin typeface="Canva Sans Bold"/>
                          <a:ea typeface="Canva Sans Bold"/>
                          <a:cs typeface="Canva Sans Bold"/>
                          <a:sym typeface="Canva Sans Bold"/>
                        </a:rPr>
                        <a:t>alpha=5→511</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alpha=0→19513</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alpha=0.5→10936</a:t>
                      </a:r>
                    </a:p>
                    <a:p>
                      <a:pPr algn="ctr">
                        <a:lnSpc>
                          <a:spcPts val="2659"/>
                        </a:lnSpc>
                      </a:pPr>
                      <a:r>
                        <a:rPr lang="en-US" sz="1899" b="true">
                          <a:solidFill>
                            <a:srgbClr val="000000"/>
                          </a:solidFill>
                          <a:latin typeface="Canva Sans Bold"/>
                          <a:ea typeface="Canva Sans Bold"/>
                          <a:cs typeface="Canva Sans Bold"/>
                          <a:sym typeface="Canva Sans Bold"/>
                        </a:rPr>
                        <a:t>alpha=1→13077</a:t>
                      </a:r>
                    </a:p>
                    <a:p>
                      <a:pPr algn="ctr">
                        <a:lnSpc>
                          <a:spcPts val="2659"/>
                        </a:lnSpc>
                      </a:pPr>
                      <a:r>
                        <a:rPr lang="en-US" sz="1899" b="true">
                          <a:solidFill>
                            <a:srgbClr val="000000"/>
                          </a:solidFill>
                          <a:latin typeface="Canva Sans Bold"/>
                          <a:ea typeface="Canva Sans Bold"/>
                          <a:cs typeface="Canva Sans Bold"/>
                          <a:sym typeface="Canva Sans Bold"/>
                        </a:rPr>
                        <a:t>alpha=5→13122</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alpha=0→58535</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alpha=0.5→32805</a:t>
                      </a:r>
                    </a:p>
                    <a:p>
                      <a:pPr algn="ctr">
                        <a:lnSpc>
                          <a:spcPts val="2659"/>
                        </a:lnSpc>
                      </a:pPr>
                      <a:r>
                        <a:rPr lang="en-US" sz="1899" b="true">
                          <a:solidFill>
                            <a:srgbClr val="000000"/>
                          </a:solidFill>
                          <a:latin typeface="Canva Sans Bold"/>
                          <a:ea typeface="Canva Sans Bold"/>
                          <a:cs typeface="Canva Sans Bold"/>
                          <a:sym typeface="Canva Sans Bold"/>
                        </a:rPr>
                        <a:t>alpha=1→39228</a:t>
                      </a:r>
                    </a:p>
                    <a:p>
                      <a:pPr algn="ctr">
                        <a:lnSpc>
                          <a:spcPts val="2659"/>
                        </a:lnSpc>
                      </a:pPr>
                      <a:r>
                        <a:rPr lang="en-US" sz="1899" b="true">
                          <a:solidFill>
                            <a:srgbClr val="000000"/>
                          </a:solidFill>
                          <a:latin typeface="Canva Sans Bold"/>
                          <a:ea typeface="Canva Sans Bold"/>
                          <a:cs typeface="Canva Sans Bold"/>
                          <a:sym typeface="Canva Sans Bold"/>
                        </a:rPr>
                        <a:t>alpha=5</a:t>
                      </a:r>
                      <a:r>
                        <a:rPr lang="en-US" sz="1899" b="true">
                          <a:solidFill>
                            <a:srgbClr val="000000"/>
                          </a:solidFill>
                          <a:latin typeface="Canva Sans Bold"/>
                          <a:ea typeface="Canva Sans Bold"/>
                          <a:cs typeface="Canva Sans Bold"/>
                          <a:sym typeface="Canva Sans Bold"/>
                        </a:rPr>
                        <a:t>→39363</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alpha=0→517</a:t>
                      </a:r>
                      <a:endParaRPr lang="en-US" sz="1100"/>
                    </a:p>
                    <a:p>
                      <a:pPr algn="ctr">
                        <a:lnSpc>
                          <a:spcPts val="2659"/>
                        </a:lnSpc>
                      </a:pPr>
                      <a:r>
                        <a:rPr lang="en-US" sz="1899" b="true">
                          <a:solidFill>
                            <a:srgbClr val="000000"/>
                          </a:solidFill>
                          <a:latin typeface="Canva Sans Bold"/>
                          <a:ea typeface="Canva Sans Bold"/>
                          <a:cs typeface="Canva Sans Bold"/>
                          <a:sym typeface="Canva Sans Bold"/>
                        </a:rPr>
                        <a:t>alpha=0.5→507,3</a:t>
                      </a:r>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962269" y="1667999"/>
            <a:ext cx="15150538" cy="793750"/>
          </a:xfrm>
          <a:prstGeom prst="rect">
            <a:avLst/>
          </a:prstGeom>
        </p:spPr>
        <p:txBody>
          <a:bodyPr anchor="t" rtlCol="false" tIns="0" lIns="0" bIns="0" rIns="0">
            <a:spAutoFit/>
          </a:bodyPr>
          <a:lstStyle/>
          <a:p>
            <a:pPr algn="ctr">
              <a:lnSpc>
                <a:spcPts val="5599"/>
              </a:lnSpc>
              <a:spcBef>
                <a:spcPct val="0"/>
              </a:spcBef>
            </a:pPr>
            <a:r>
              <a:rPr lang="en-US" b="true" sz="3999">
                <a:solidFill>
                  <a:srgbClr val="12356D"/>
                </a:solidFill>
                <a:latin typeface="Agrandir Bold"/>
                <a:ea typeface="Agrandir Bold"/>
                <a:cs typeface="Agrandir Bold"/>
                <a:sym typeface="Agrandir Bold"/>
              </a:rPr>
              <a:t>Quantitative Evaluation and Simulation Metrics Table</a:t>
            </a:r>
          </a:p>
        </p:txBody>
      </p:sp>
      <p:sp>
        <p:nvSpPr>
          <p:cNvPr name="TextBox 8" id="8"/>
          <p:cNvSpPr txBox="true"/>
          <p:nvPr/>
        </p:nvSpPr>
        <p:spPr>
          <a:xfrm rot="0">
            <a:off x="1642099" y="9443018"/>
            <a:ext cx="9403110" cy="1047750"/>
          </a:xfrm>
          <a:prstGeom prst="rect">
            <a:avLst/>
          </a:prstGeom>
        </p:spPr>
        <p:txBody>
          <a:bodyPr anchor="t" rtlCol="false" tIns="0" lIns="0" bIns="0" rIns="0">
            <a:spAutoFit/>
          </a:bodyPr>
          <a:lstStyle/>
          <a:p>
            <a:pPr algn="ctr">
              <a:lnSpc>
                <a:spcPts val="4200"/>
              </a:lnSpc>
              <a:spcBef>
                <a:spcPct val="0"/>
              </a:spcBef>
            </a:pPr>
            <a:r>
              <a:rPr lang="en-US" sz="3000">
                <a:solidFill>
                  <a:srgbClr val="12356D"/>
                </a:solidFill>
                <a:latin typeface="Canva Sans"/>
                <a:ea typeface="Canva Sans"/>
                <a:cs typeface="Canva Sans"/>
                <a:sym typeface="Canva Sans"/>
              </a:rPr>
              <a:t>Table 2: Results in </a:t>
            </a:r>
            <a:r>
              <a:rPr lang="en-US" b="true" sz="3000" u="sng">
                <a:solidFill>
                  <a:srgbClr val="12356D"/>
                </a:solidFill>
                <a:latin typeface="Canva Sans Bold"/>
                <a:ea typeface="Canva Sans Bold"/>
                <a:cs typeface="Canva Sans Bold"/>
                <a:sym typeface="Canva Sans Bold"/>
              </a:rPr>
              <a:t>Generalized A* Search Algorithm</a:t>
            </a:r>
          </a:p>
          <a:p>
            <a:pPr algn="ctr">
              <a:lnSpc>
                <a:spcPts val="4200"/>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03611" y="5143500"/>
            <a:ext cx="5713363" cy="4580612"/>
          </a:xfrm>
          <a:custGeom>
            <a:avLst/>
            <a:gdLst/>
            <a:ahLst/>
            <a:cxnLst/>
            <a:rect r="r" b="b" t="t" l="l"/>
            <a:pathLst>
              <a:path h="4580612" w="5713363">
                <a:moveTo>
                  <a:pt x="0" y="0"/>
                </a:moveTo>
                <a:lnTo>
                  <a:pt x="5713363" y="0"/>
                </a:lnTo>
                <a:lnTo>
                  <a:pt x="5713363" y="4580612"/>
                </a:lnTo>
                <a:lnTo>
                  <a:pt x="0" y="4580612"/>
                </a:lnTo>
                <a:lnTo>
                  <a:pt x="0" y="0"/>
                </a:lnTo>
                <a:close/>
              </a:path>
            </a:pathLst>
          </a:custGeom>
          <a:blipFill>
            <a:blip r:embed="rId3"/>
            <a:stretch>
              <a:fillRect l="0" t="0" r="0" b="0"/>
            </a:stretch>
          </a:blipFill>
        </p:spPr>
      </p:sp>
      <p:sp>
        <p:nvSpPr>
          <p:cNvPr name="Freeform 7" id="7"/>
          <p:cNvSpPr/>
          <p:nvPr/>
        </p:nvSpPr>
        <p:spPr>
          <a:xfrm flipH="false" flipV="false" rot="0">
            <a:off x="11424473" y="5143500"/>
            <a:ext cx="6012054" cy="4580612"/>
          </a:xfrm>
          <a:custGeom>
            <a:avLst/>
            <a:gdLst/>
            <a:ahLst/>
            <a:cxnLst/>
            <a:rect r="r" b="b" t="t" l="l"/>
            <a:pathLst>
              <a:path h="4580612" w="6012054">
                <a:moveTo>
                  <a:pt x="0" y="0"/>
                </a:moveTo>
                <a:lnTo>
                  <a:pt x="6012054" y="0"/>
                </a:lnTo>
                <a:lnTo>
                  <a:pt x="6012054" y="4580612"/>
                </a:lnTo>
                <a:lnTo>
                  <a:pt x="0" y="4580612"/>
                </a:lnTo>
                <a:lnTo>
                  <a:pt x="0" y="0"/>
                </a:lnTo>
                <a:close/>
              </a:path>
            </a:pathLst>
          </a:custGeom>
          <a:blipFill>
            <a:blip r:embed="rId4"/>
            <a:stretch>
              <a:fillRect l="0" t="0" r="0" b="0"/>
            </a:stretch>
          </a:blipFill>
        </p:spPr>
      </p:sp>
      <p:sp>
        <p:nvSpPr>
          <p:cNvPr name="TextBox 8" id="8"/>
          <p:cNvSpPr txBox="true"/>
          <p:nvPr/>
        </p:nvSpPr>
        <p:spPr>
          <a:xfrm rot="0">
            <a:off x="2108762" y="2886410"/>
            <a:ext cx="15150538" cy="793750"/>
          </a:xfrm>
          <a:prstGeom prst="rect">
            <a:avLst/>
          </a:prstGeom>
        </p:spPr>
        <p:txBody>
          <a:bodyPr anchor="t" rtlCol="false" tIns="0" lIns="0" bIns="0" rIns="0">
            <a:spAutoFit/>
          </a:bodyPr>
          <a:lstStyle/>
          <a:p>
            <a:pPr algn="ctr">
              <a:lnSpc>
                <a:spcPts val="5599"/>
              </a:lnSpc>
              <a:spcBef>
                <a:spcPct val="0"/>
              </a:spcBef>
            </a:pPr>
            <a:r>
              <a:rPr lang="en-US" b="true" sz="3999">
                <a:solidFill>
                  <a:srgbClr val="12356D"/>
                </a:solidFill>
                <a:latin typeface="Agrandir Bold"/>
                <a:ea typeface="Agrandir Bold"/>
                <a:cs typeface="Agrandir Bold"/>
                <a:sym typeface="Agrandir Bold"/>
              </a:rPr>
              <a:t>Experimental Verification via Terminal Outputs</a:t>
            </a:r>
          </a:p>
        </p:txBody>
      </p:sp>
      <p:sp>
        <p:nvSpPr>
          <p:cNvPr name="TextBox 9" id="9"/>
          <p:cNvSpPr txBox="true"/>
          <p:nvPr/>
        </p:nvSpPr>
        <p:spPr>
          <a:xfrm rot="0">
            <a:off x="2285989" y="3759598"/>
            <a:ext cx="15150538"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3-Disk Problem Scale Execution</a:t>
            </a:r>
          </a:p>
        </p:txBody>
      </p:sp>
      <p:sp>
        <p:nvSpPr>
          <p:cNvPr name="TextBox 10" id="10"/>
          <p:cNvSpPr txBox="true"/>
          <p:nvPr/>
        </p:nvSpPr>
        <p:spPr>
          <a:xfrm rot="0">
            <a:off x="803611" y="4302523"/>
            <a:ext cx="5713363" cy="1047750"/>
          </a:xfrm>
          <a:prstGeom prst="rect">
            <a:avLst/>
          </a:prstGeom>
        </p:spPr>
        <p:txBody>
          <a:bodyPr anchor="t" rtlCol="false" tIns="0" lIns="0" bIns="0" rIns="0">
            <a:spAutoFit/>
          </a:bodyPr>
          <a:lstStyle/>
          <a:p>
            <a:pPr algn="ctr">
              <a:lnSpc>
                <a:spcPts val="4200"/>
              </a:lnSpc>
            </a:pPr>
            <a:r>
              <a:rPr lang="en-US" sz="3000">
                <a:solidFill>
                  <a:srgbClr val="12356D"/>
                </a:solidFill>
                <a:latin typeface="Canva Sans"/>
                <a:ea typeface="Canva Sans"/>
                <a:cs typeface="Canva Sans"/>
                <a:sym typeface="Canva Sans"/>
              </a:rPr>
              <a:t>Breadth First Search for 3 disks</a:t>
            </a:r>
          </a:p>
          <a:p>
            <a:pPr algn="ctr">
              <a:lnSpc>
                <a:spcPts val="4200"/>
              </a:lnSpc>
              <a:spcBef>
                <a:spcPct val="0"/>
              </a:spcBef>
            </a:pPr>
          </a:p>
        </p:txBody>
      </p:sp>
      <p:sp>
        <p:nvSpPr>
          <p:cNvPr name="TextBox 11" id="11"/>
          <p:cNvSpPr txBox="true"/>
          <p:nvPr/>
        </p:nvSpPr>
        <p:spPr>
          <a:xfrm rot="0">
            <a:off x="11424473" y="4302523"/>
            <a:ext cx="3706941" cy="1041212"/>
          </a:xfrm>
          <a:prstGeom prst="rect">
            <a:avLst/>
          </a:prstGeom>
        </p:spPr>
        <p:txBody>
          <a:bodyPr anchor="t" rtlCol="false" tIns="0" lIns="0" bIns="0" rIns="0">
            <a:spAutoFit/>
          </a:bodyPr>
          <a:lstStyle/>
          <a:p>
            <a:pPr algn="ctr">
              <a:lnSpc>
                <a:spcPts val="4172"/>
              </a:lnSpc>
            </a:pPr>
            <a:r>
              <a:rPr lang="en-US" sz="2980">
                <a:solidFill>
                  <a:srgbClr val="12356D"/>
                </a:solidFill>
                <a:latin typeface="Canva Sans"/>
                <a:ea typeface="Canva Sans"/>
                <a:cs typeface="Canva Sans"/>
                <a:sym typeface="Canva Sans"/>
              </a:rPr>
              <a:t>A* Search for 3 disks</a:t>
            </a:r>
          </a:p>
          <a:p>
            <a:pPr algn="ctr">
              <a:lnSpc>
                <a:spcPts val="4172"/>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037234" y="3183767"/>
            <a:ext cx="15150538" cy="793750"/>
          </a:xfrm>
          <a:prstGeom prst="rect">
            <a:avLst/>
          </a:prstGeom>
        </p:spPr>
        <p:txBody>
          <a:bodyPr anchor="t" rtlCol="false" tIns="0" lIns="0" bIns="0" rIns="0">
            <a:spAutoFit/>
          </a:bodyPr>
          <a:lstStyle/>
          <a:p>
            <a:pPr algn="ctr">
              <a:lnSpc>
                <a:spcPts val="5599"/>
              </a:lnSpc>
              <a:spcBef>
                <a:spcPct val="0"/>
              </a:spcBef>
            </a:pPr>
            <a:r>
              <a:rPr lang="en-US" b="true" sz="3999">
                <a:solidFill>
                  <a:srgbClr val="12356D"/>
                </a:solidFill>
                <a:latin typeface="Agrandir Bold"/>
                <a:ea typeface="Agrandir Bold"/>
                <a:cs typeface="Agrandir Bold"/>
                <a:sym typeface="Agrandir Bold"/>
              </a:rPr>
              <a:t>Comparative Performance and State-Space Evaluation</a:t>
            </a:r>
          </a:p>
        </p:txBody>
      </p:sp>
      <p:sp>
        <p:nvSpPr>
          <p:cNvPr name="TextBox 7" id="7"/>
          <p:cNvSpPr txBox="true"/>
          <p:nvPr/>
        </p:nvSpPr>
        <p:spPr>
          <a:xfrm rot="0">
            <a:off x="2505736" y="4766211"/>
            <a:ext cx="14213532" cy="3519805"/>
          </a:xfrm>
          <a:prstGeom prst="rect">
            <a:avLst/>
          </a:prstGeom>
        </p:spPr>
        <p:txBody>
          <a:bodyPr anchor="t" rtlCol="false" tIns="0" lIns="0" bIns="0" rIns="0">
            <a:spAutoFit/>
          </a:bodyPr>
          <a:lstStyle/>
          <a:p>
            <a:pPr algn="ctr">
              <a:lnSpc>
                <a:spcPts val="3920"/>
              </a:lnSpc>
            </a:pPr>
            <a:r>
              <a:rPr lang="en-US" sz="2800" b="true">
                <a:solidFill>
                  <a:srgbClr val="12356D"/>
                </a:solidFill>
                <a:latin typeface="Agrandir Bold"/>
                <a:ea typeface="Agrandir Bold"/>
                <a:cs typeface="Agrandir Bold"/>
                <a:sym typeface="Agrandir Bold"/>
              </a:rPr>
              <a:t>The Problem:</a:t>
            </a:r>
            <a:r>
              <a:rPr lang="en-US" sz="2800">
                <a:solidFill>
                  <a:srgbClr val="12356D"/>
                </a:solidFill>
                <a:latin typeface="Agrandir"/>
                <a:ea typeface="Agrandir"/>
                <a:cs typeface="Agrandir"/>
                <a:sym typeface="Agrandir"/>
              </a:rPr>
              <a:t> Exponential Growth</a:t>
            </a:r>
          </a:p>
          <a:p>
            <a:pPr algn="ctr" marL="604521" indent="-302261" lvl="1">
              <a:lnSpc>
                <a:spcPts val="3920"/>
              </a:lnSpc>
              <a:buFont typeface="Arial"/>
              <a:buChar char="•"/>
            </a:pPr>
            <a:r>
              <a:rPr lang="en-US" sz="2800">
                <a:solidFill>
                  <a:srgbClr val="12356D"/>
                </a:solidFill>
                <a:latin typeface="Agrandir"/>
                <a:ea typeface="Agrandir"/>
                <a:cs typeface="Agrandir"/>
                <a:sym typeface="Agrandir"/>
              </a:rPr>
              <a:t>Execution time and node generation scale exponentially from 3 to 9 disks.</a:t>
            </a:r>
          </a:p>
          <a:p>
            <a:pPr algn="ctr" marL="604521" indent="-302261" lvl="1">
              <a:lnSpc>
                <a:spcPts val="3920"/>
              </a:lnSpc>
              <a:buFont typeface="Arial"/>
              <a:buChar char="•"/>
            </a:pPr>
            <a:r>
              <a:rPr lang="en-US" b="true" sz="2800">
                <a:solidFill>
                  <a:srgbClr val="12356D"/>
                </a:solidFill>
                <a:latin typeface="Agrandir Bold"/>
                <a:ea typeface="Agrandir Bold"/>
                <a:cs typeface="Agrandir Bold"/>
                <a:sym typeface="Agrandir Bold"/>
              </a:rPr>
              <a:t>The Mathematical Gap</a:t>
            </a:r>
            <a:r>
              <a:rPr lang="en-US" sz="2800">
                <a:solidFill>
                  <a:srgbClr val="12356D"/>
                </a:solidFill>
                <a:latin typeface="Agrandir"/>
                <a:ea typeface="Agrandir"/>
                <a:cs typeface="Agrandir"/>
                <a:sym typeface="Agrandir"/>
              </a:rPr>
              <a:t>: * State Space Growth: </a:t>
            </a:r>
            <a:r>
              <a:rPr lang="en-US" b="true" sz="2800">
                <a:solidFill>
                  <a:srgbClr val="12356D"/>
                </a:solidFill>
                <a:latin typeface="Agrandir Bold"/>
                <a:ea typeface="Agrandir Bold"/>
                <a:cs typeface="Agrandir Bold"/>
                <a:sym typeface="Agrandir Bold"/>
              </a:rPr>
              <a:t>3^N(</a:t>
            </a:r>
            <a:r>
              <a:rPr lang="en-US" sz="2800">
                <a:solidFill>
                  <a:srgbClr val="12356D"/>
                </a:solidFill>
                <a:latin typeface="Agrandir"/>
                <a:ea typeface="Agrandir"/>
                <a:cs typeface="Agrandir"/>
                <a:sym typeface="Agrandir"/>
              </a:rPr>
              <a:t>Explores too many nodes)</a:t>
            </a:r>
          </a:p>
          <a:p>
            <a:pPr algn="ctr" marL="1209042" indent="-403014" lvl="2">
              <a:lnSpc>
                <a:spcPts val="3920"/>
              </a:lnSpc>
              <a:buFont typeface="Arial"/>
              <a:buChar char="⚬"/>
            </a:pPr>
            <a:r>
              <a:rPr lang="en-US" b="true" sz="2800">
                <a:solidFill>
                  <a:srgbClr val="12356D"/>
                </a:solidFill>
                <a:latin typeface="Agrandir Bold"/>
                <a:ea typeface="Agrandir Bold"/>
                <a:cs typeface="Agrandir Bold"/>
                <a:sym typeface="Agrandir Bold"/>
              </a:rPr>
              <a:t>Shortest Path:2^N - 1</a:t>
            </a:r>
            <a:r>
              <a:rPr lang="en-US" sz="2800">
                <a:solidFill>
                  <a:srgbClr val="12356D"/>
                </a:solidFill>
                <a:latin typeface="Agrandir"/>
                <a:ea typeface="Agrandir"/>
                <a:cs typeface="Agrandir"/>
                <a:sym typeface="Agrandir"/>
              </a:rPr>
              <a:t>(Optimal target)</a:t>
            </a:r>
          </a:p>
          <a:p>
            <a:pPr algn="ctr" marL="604521" indent="-302261" lvl="1">
              <a:lnSpc>
                <a:spcPts val="3920"/>
              </a:lnSpc>
              <a:buFont typeface="Arial"/>
              <a:buChar char="•"/>
            </a:pPr>
            <a:r>
              <a:rPr lang="en-US" b="true" sz="2800">
                <a:solidFill>
                  <a:srgbClr val="12356D"/>
                </a:solidFill>
                <a:latin typeface="Agrandir Bold"/>
                <a:ea typeface="Agrandir Bold"/>
                <a:cs typeface="Agrandir Bold"/>
                <a:sym typeface="Agrandir Bold"/>
              </a:rPr>
              <a:t>Consequence:</a:t>
            </a:r>
            <a:r>
              <a:rPr lang="en-US" sz="2800">
                <a:solidFill>
                  <a:srgbClr val="12356D"/>
                </a:solidFill>
                <a:latin typeface="Agrandir"/>
                <a:ea typeface="Agrandir"/>
                <a:cs typeface="Agrandir"/>
                <a:sym typeface="Agrandir"/>
              </a:rPr>
              <a:t> Uninformed algorithms suffer from massive memory consumption.</a:t>
            </a:r>
          </a:p>
          <a:p>
            <a:pPr algn="ctr">
              <a:lnSpc>
                <a:spcPts val="3920"/>
              </a:lnSpc>
              <a:spcBef>
                <a:spcPct val="0"/>
              </a:spcBef>
            </a:pPr>
          </a:p>
          <a:p>
            <a:pPr algn="ctr">
              <a:lnSpc>
                <a:spcPts val="3920"/>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006663" y="-5493771"/>
            <a:ext cx="7955520" cy="79555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3072621"/>
            <a:ext cx="15925502" cy="16668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The Solution: </a:t>
            </a:r>
            <a:r>
              <a:rPr lang="en-US" sz="3000">
                <a:solidFill>
                  <a:srgbClr val="12356D"/>
                </a:solidFill>
                <a:latin typeface="Agrandir"/>
                <a:ea typeface="Agrandir"/>
                <a:cs typeface="Agrandir"/>
                <a:sym typeface="Agrandir"/>
              </a:rPr>
              <a:t>Hash Table &amp; Graph Search</a:t>
            </a:r>
          </a:p>
          <a:p>
            <a:pPr algn="ctr">
              <a:lnSpc>
                <a:spcPts val="4200"/>
              </a:lnSpc>
              <a:spcBef>
                <a:spcPct val="0"/>
              </a:spcBef>
            </a:pPr>
            <a:r>
              <a:rPr lang="en-US" sz="3000">
                <a:solidFill>
                  <a:srgbClr val="12356D"/>
                </a:solidFill>
                <a:latin typeface="Agrandir"/>
                <a:ea typeface="Agrandir"/>
                <a:cs typeface="Agrandir"/>
                <a:sym typeface="Agrandir"/>
              </a:rPr>
              <a:t>The environment is treated as a Graph instead of a Tree to prevent infinite loops.</a:t>
            </a:r>
          </a:p>
          <a:p>
            <a:pPr algn="ctr">
              <a:lnSpc>
                <a:spcPts val="4200"/>
              </a:lnSpc>
              <a:spcBef>
                <a:spcPct val="0"/>
              </a:spcBef>
            </a:pPr>
            <a:r>
              <a:rPr lang="en-US" sz="3000">
                <a:solidFill>
                  <a:srgbClr val="12356D"/>
                </a:solidFill>
                <a:latin typeface="Agrandir"/>
                <a:ea typeface="Agrandir"/>
                <a:cs typeface="Agrandir"/>
                <a:sym typeface="Agrandir"/>
              </a:rPr>
              <a:t>Every unique state is transformed into a hashed key and stored.</a:t>
            </a:r>
          </a:p>
        </p:txBody>
      </p:sp>
      <p:sp>
        <p:nvSpPr>
          <p:cNvPr name="TextBox 7" id="7"/>
          <p:cNvSpPr txBox="true"/>
          <p:nvPr/>
        </p:nvSpPr>
        <p:spPr>
          <a:xfrm rot="0">
            <a:off x="2857500" y="5522571"/>
            <a:ext cx="12573000" cy="2200275"/>
          </a:xfrm>
          <a:prstGeom prst="rect">
            <a:avLst/>
          </a:prstGeom>
        </p:spPr>
        <p:txBody>
          <a:bodyPr anchor="t" rtlCol="false" tIns="0" lIns="0" bIns="0" rIns="0">
            <a:spAutoFit/>
          </a:bodyPr>
          <a:lstStyle/>
          <a:p>
            <a:pPr algn="ctr">
              <a:lnSpc>
                <a:spcPts val="4200"/>
              </a:lnSpc>
              <a:spcBef>
                <a:spcPct val="0"/>
              </a:spcBef>
            </a:pPr>
            <a:r>
              <a:rPr lang="en-US" b="true" sz="3000">
                <a:solidFill>
                  <a:srgbClr val="12356D"/>
                </a:solidFill>
                <a:latin typeface="Agrandir Bold"/>
                <a:ea typeface="Agrandir Bold"/>
                <a:cs typeface="Agrandir Bold"/>
                <a:sym typeface="Agrandir Bold"/>
              </a:rPr>
              <a:t>The Optimization: </a:t>
            </a:r>
            <a:r>
              <a:rPr lang="en-US" sz="3000">
                <a:solidFill>
                  <a:srgbClr val="12356D"/>
                </a:solidFill>
                <a:latin typeface="Agrandir"/>
                <a:ea typeface="Agrandir"/>
                <a:cs typeface="Agrandir"/>
                <a:sym typeface="Agrandir"/>
              </a:rPr>
              <a:t>Intelligent Pruning</a:t>
            </a:r>
          </a:p>
          <a:p>
            <a:pPr algn="ctr">
              <a:lnSpc>
                <a:spcPts val="4200"/>
              </a:lnSpc>
              <a:spcBef>
                <a:spcPct val="0"/>
              </a:spcBef>
            </a:pPr>
            <a:r>
              <a:rPr lang="en-US" sz="3000">
                <a:solidFill>
                  <a:srgbClr val="12356D"/>
                </a:solidFill>
                <a:latin typeface="Agrandir"/>
                <a:ea typeface="Agrandir"/>
                <a:cs typeface="Agrandir"/>
                <a:sym typeface="Agrandir"/>
              </a:rPr>
              <a:t>Before any move, the transition model checks the Hash Table.</a:t>
            </a:r>
          </a:p>
          <a:p>
            <a:pPr algn="ctr">
              <a:lnSpc>
                <a:spcPts val="4200"/>
              </a:lnSpc>
              <a:spcBef>
                <a:spcPct val="0"/>
              </a:spcBef>
            </a:pPr>
            <a:r>
              <a:rPr lang="en-US" sz="3000">
                <a:solidFill>
                  <a:srgbClr val="12356D"/>
                </a:solidFill>
                <a:latin typeface="Agrandir"/>
                <a:ea typeface="Agrandir"/>
                <a:cs typeface="Agrandir"/>
                <a:sym typeface="Agrandir"/>
              </a:rPr>
              <a:t>If the state already exists --&gt;Branch is </a:t>
            </a:r>
            <a:r>
              <a:rPr lang="en-US" b="true" sz="3000">
                <a:solidFill>
                  <a:srgbClr val="12356D"/>
                </a:solidFill>
                <a:latin typeface="Agrandir Bold"/>
                <a:ea typeface="Agrandir Bold"/>
                <a:cs typeface="Agrandir Bold"/>
                <a:sym typeface="Agrandir Bold"/>
              </a:rPr>
              <a:t>Pruning.</a:t>
            </a:r>
          </a:p>
          <a:p>
            <a:pPr algn="ctr">
              <a:lnSpc>
                <a:spcPts val="4200"/>
              </a:lnSpc>
              <a:spcBef>
                <a:spcPct val="0"/>
              </a:spcBef>
            </a:pPr>
            <a:r>
              <a:rPr lang="en-US" sz="3000">
                <a:solidFill>
                  <a:srgbClr val="12356D"/>
                </a:solidFill>
                <a:latin typeface="Agrandir"/>
                <a:ea typeface="Agrandir"/>
                <a:cs typeface="Agrandir"/>
                <a:sym typeface="Agrandir"/>
              </a:rPr>
              <a:t>Keep the vast search process manageable and prevents cyclical loops.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232F">
                <a:alpha val="100000"/>
              </a:srgbClr>
            </a:gs>
            <a:gs pos="50000">
              <a:srgbClr val="193F61">
                <a:alpha val="100000"/>
              </a:srgbClr>
            </a:gs>
            <a:gs pos="100000">
              <a:srgbClr val="193F61">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006663" y="-5493771"/>
            <a:ext cx="7955520" cy="79555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0"/>
            <a:ext cx="2781030" cy="2859671"/>
          </a:xfrm>
          <a:custGeom>
            <a:avLst/>
            <a:gdLst/>
            <a:ahLst/>
            <a:cxnLst/>
            <a:rect r="r" b="b" t="t" l="l"/>
            <a:pathLst>
              <a:path h="2859671" w="2781030">
                <a:moveTo>
                  <a:pt x="0" y="0"/>
                </a:moveTo>
                <a:lnTo>
                  <a:pt x="2781030" y="0"/>
                </a:lnTo>
                <a:lnTo>
                  <a:pt x="2781030" y="2859671"/>
                </a:lnTo>
                <a:lnTo>
                  <a:pt x="0" y="2859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664247" y="9163050"/>
            <a:ext cx="4640352" cy="388301"/>
          </a:xfrm>
          <a:prstGeom prst="rect">
            <a:avLst/>
          </a:prstGeom>
        </p:spPr>
        <p:txBody>
          <a:bodyPr anchor="t" rtlCol="false" tIns="0" lIns="0" bIns="0" rIns="0">
            <a:spAutoFit/>
          </a:bodyPr>
          <a:lstStyle/>
          <a:p>
            <a:pPr algn="ctr">
              <a:lnSpc>
                <a:spcPts val="2746"/>
              </a:lnSpc>
              <a:spcBef>
                <a:spcPct val="0"/>
              </a:spcBef>
            </a:pPr>
            <a:r>
              <a:rPr lang="en-US" sz="1961">
                <a:solidFill>
                  <a:srgbClr val="12356D"/>
                </a:solidFill>
                <a:latin typeface="Agrandir"/>
                <a:ea typeface="Agrandir"/>
                <a:cs typeface="Agrandir"/>
                <a:sym typeface="Agrandir"/>
              </a:rPr>
              <a:t>www.reallygreatsite.com</a:t>
            </a:r>
          </a:p>
        </p:txBody>
      </p:sp>
      <p:sp>
        <p:nvSpPr>
          <p:cNvPr name="TextBox 7" id="7"/>
          <p:cNvSpPr txBox="true"/>
          <p:nvPr/>
        </p:nvSpPr>
        <p:spPr>
          <a:xfrm rot="0">
            <a:off x="4303262" y="2392680"/>
            <a:ext cx="9362321" cy="1036320"/>
          </a:xfrm>
          <a:prstGeom prst="rect">
            <a:avLst/>
          </a:prstGeom>
        </p:spPr>
        <p:txBody>
          <a:bodyPr anchor="t" rtlCol="false" tIns="0" lIns="0" bIns="0" rIns="0">
            <a:spAutoFit/>
          </a:bodyPr>
          <a:lstStyle/>
          <a:p>
            <a:pPr algn="ctr">
              <a:lnSpc>
                <a:spcPts val="8189"/>
              </a:lnSpc>
            </a:pPr>
            <a:r>
              <a:rPr lang="en-US" sz="6999">
                <a:solidFill>
                  <a:srgbClr val="CDE8F9"/>
                </a:solidFill>
                <a:latin typeface="Anton"/>
                <a:ea typeface="Anton"/>
                <a:cs typeface="Anton"/>
                <a:sym typeface="Anton"/>
              </a:rPr>
              <a:t>CONCLUSION</a:t>
            </a:r>
          </a:p>
        </p:txBody>
      </p:sp>
      <p:sp>
        <p:nvSpPr>
          <p:cNvPr name="TextBox 8" id="8"/>
          <p:cNvSpPr txBox="true"/>
          <p:nvPr/>
        </p:nvSpPr>
        <p:spPr>
          <a:xfrm rot="0">
            <a:off x="90900" y="3713261"/>
            <a:ext cx="18106200" cy="6439532"/>
          </a:xfrm>
          <a:prstGeom prst="rect">
            <a:avLst/>
          </a:prstGeom>
        </p:spPr>
        <p:txBody>
          <a:bodyPr anchor="t" rtlCol="false" tIns="0" lIns="0" bIns="0" rIns="0">
            <a:spAutoFit/>
          </a:bodyPr>
          <a:lstStyle/>
          <a:p>
            <a:pPr algn="ctr" marL="647700" indent="-323850" lvl="1">
              <a:lnSpc>
                <a:spcPts val="4200"/>
              </a:lnSpc>
              <a:buFont typeface="Arial"/>
              <a:buChar char="•"/>
            </a:pPr>
            <a:r>
              <a:rPr lang="en-US" sz="3000">
                <a:solidFill>
                  <a:srgbClr val="FFFFFF"/>
                </a:solidFill>
                <a:latin typeface="Agrandir"/>
                <a:ea typeface="Agrandir"/>
                <a:cs typeface="Agrandir"/>
                <a:sym typeface="Agrandir"/>
              </a:rPr>
              <a:t>    The Problem with Blind Searches: Uninformed algorithms expand the search tree in all directions, causing exponential node growth, rapid memory exhaustion, and long execution times as disk count increases.</a:t>
            </a:r>
          </a:p>
          <a:p>
            <a:pPr algn="ctr" marL="647700" indent="-323850" lvl="1">
              <a:lnSpc>
                <a:spcPts val="4200"/>
              </a:lnSpc>
              <a:buFont typeface="Arial"/>
              <a:buChar char="•"/>
            </a:pPr>
            <a:r>
              <a:rPr lang="en-US" sz="3000">
                <a:solidFill>
                  <a:srgbClr val="FFFFFF"/>
                </a:solidFill>
                <a:latin typeface="Agrandir"/>
                <a:ea typeface="Agrandir"/>
                <a:cs typeface="Agrandir"/>
                <a:sym typeface="Agrandir"/>
              </a:rPr>
              <a:t>The Power of Heuristics: Generalized A* uses a heuristic function to estimate the distance to the target, prioritizing the most promising paths instead of checking every move equally.</a:t>
            </a:r>
          </a:p>
          <a:p>
            <a:pPr algn="ctr" marL="647700" indent="-323850" lvl="1">
              <a:lnSpc>
                <a:spcPts val="4200"/>
              </a:lnSpc>
              <a:buFont typeface="Arial"/>
              <a:buChar char="•"/>
            </a:pPr>
            <a:r>
              <a:rPr lang="en-US" sz="3000">
                <a:solidFill>
                  <a:srgbClr val="FFFFFF"/>
                </a:solidFill>
                <a:latin typeface="Agrandir"/>
                <a:ea typeface="Agrandir"/>
                <a:cs typeface="Agrandir"/>
                <a:sym typeface="Agrandir"/>
              </a:rPr>
              <a:t>Efficient Branch Pruning: By evaluating generated states early, it effectively prunes unnecessary branches from the transition model.</a:t>
            </a:r>
          </a:p>
          <a:p>
            <a:pPr algn="ctr" marL="647700" indent="-323850" lvl="1">
              <a:lnSpc>
                <a:spcPts val="4200"/>
              </a:lnSpc>
              <a:buFont typeface="Arial"/>
              <a:buChar char="•"/>
            </a:pPr>
            <a:r>
              <a:rPr lang="en-US" sz="3000">
                <a:solidFill>
                  <a:srgbClr val="FFFFFF"/>
                </a:solidFill>
                <a:latin typeface="Agrandir"/>
                <a:ea typeface="Agrandir"/>
                <a:cs typeface="Agrandir"/>
                <a:sym typeface="Agrandir"/>
              </a:rPr>
              <a:t>Optimal Performance: This results in minimized memory usage and faster execution, successfully reaching the goal without the bottlenecks seen in blind searches.</a:t>
            </a:r>
          </a:p>
          <a:p>
            <a:pPr algn="ctr">
              <a:lnSpc>
                <a:spcPts val="4130"/>
              </a:lnSpc>
            </a:pPr>
          </a:p>
          <a:p>
            <a:pPr algn="ctr">
              <a:lnSpc>
                <a:spcPts val="4130"/>
              </a:lnSpc>
            </a:pPr>
          </a:p>
          <a:p>
            <a:pPr algn="ctr">
              <a:lnSpc>
                <a:spcPts val="4130"/>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965" r="-5047" b="-20574"/>
            </a:stretch>
          </a:blipFill>
        </p:spPr>
      </p:sp>
      <p:grpSp>
        <p:nvGrpSpPr>
          <p:cNvPr name="Group 3" id="3"/>
          <p:cNvGrpSpPr/>
          <p:nvPr/>
        </p:nvGrpSpPr>
        <p:grpSpPr>
          <a:xfrm rot="-10464660">
            <a:off x="5713247" y="-3853599"/>
            <a:ext cx="16492356" cy="164923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33333">
                    <a:srgbClr val="468BCA">
                      <a:alpha val="100000"/>
                    </a:srgbClr>
                  </a:gs>
                  <a:gs pos="66667">
                    <a:srgbClr val="193F61">
                      <a:alpha val="12500"/>
                    </a:srgbClr>
                  </a:gs>
                  <a:gs pos="100000">
                    <a:srgbClr val="193F61">
                      <a:alpha val="12500"/>
                    </a:srgbClr>
                  </a:gs>
                </a:gsLst>
                <a:lin ang="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9109385">
            <a:off x="7760793" y="-109230"/>
            <a:ext cx="10505459" cy="1050545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D232F">
                    <a:alpha val="100000"/>
                  </a:srgbClr>
                </a:gs>
                <a:gs pos="50000">
                  <a:srgbClr val="193F61">
                    <a:alpha val="100000"/>
                  </a:srgbClr>
                </a:gs>
                <a:gs pos="100000">
                  <a:srgbClr val="193F61">
                    <a:alpha val="12500"/>
                  </a:srgbClr>
                </a:gs>
              </a:gsLst>
              <a:lin ang="0"/>
            </a:gradFill>
            <a:ln w="85725" cap="sq">
              <a:gradFill>
                <a:gsLst>
                  <a:gs pos="0">
                    <a:srgbClr val="356C8A">
                      <a:alpha val="100000"/>
                    </a:srgbClr>
                  </a:gs>
                  <a:gs pos="50000">
                    <a:srgbClr val="468BCA">
                      <a:alpha val="100000"/>
                    </a:srgbClr>
                  </a:gs>
                  <a:gs pos="100000">
                    <a:srgbClr val="193F61">
                      <a:alpha val="12500"/>
                    </a:srgbClr>
                  </a:gs>
                </a:gsLst>
                <a:lin ang="0"/>
              </a:gra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9846858" y="4583078"/>
            <a:ext cx="7412442" cy="1607979"/>
          </a:xfrm>
          <a:prstGeom prst="rect">
            <a:avLst/>
          </a:prstGeom>
        </p:spPr>
        <p:txBody>
          <a:bodyPr anchor="t" rtlCol="false" tIns="0" lIns="0" bIns="0" rIns="0">
            <a:spAutoFit/>
          </a:bodyPr>
          <a:lstStyle/>
          <a:p>
            <a:pPr algn="l">
              <a:lnSpc>
                <a:spcPts val="12185"/>
              </a:lnSpc>
            </a:pPr>
            <a:r>
              <a:rPr lang="en-US" sz="11830">
                <a:solidFill>
                  <a:srgbClr val="FFFFFF"/>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DAHKF35gi4k</dc:identifier>
  <dcterms:modified xsi:type="dcterms:W3CDTF">2011-08-01T06:04:30Z</dcterms:modified>
  <cp:revision>1</cp:revision>
  <dc:title>Blue and White Futuristic Modern Artificial Intelligence Presentation</dc:title>
</cp:coreProperties>
</file>